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Validation AP by config</a:t>
            </a:r>
          </a:p>
        </c:rich>
      </c:tx>
      <c:layout/>
      <c:overlay val="0"/>
    </c:title>
    <c:autoTitleDeleted val="0"/>
    <c:plotArea>
      <c:layout/>
      <c:barChart>
        <c:barDir val="col"/>
        <c:grouping val="clustered"/>
        <c:varyColors val="0"/>
        <c:ser>
          <c:idx val="0"/>
          <c:order val="0"/>
          <c:tx>
            <c:strRef>
              <c:f>Sheet1!$B$1</c:f>
              <c:strCache>
                <c:ptCount val="1"/>
                <c:pt idx="0">
                  <c:v>Validation AP</c:v>
                </c:pt>
              </c:strCache>
            </c:strRef>
          </c:tx>
          <c:spPr>
            <a:solidFill>
              <a:srgbClr val="5B6B7F"/>
            </a:solidFill>
            <a:effectLst/>
          </c:spPr>
          <c:invertIfNegative val="0"/>
          <c:dLbls>
            <c:numFmt formatCode="0.000" sourceLinked="0"/>
            <c:txPr>
              <a:bodyPr/>
              <a:lstStyle/>
              <a:p>
                <a:pPr>
                  <a:defRPr b="0" i="0" strike="noStrike" sz="1200" u="none">
                    <a:solidFill>
                      <a:srgbClr val="1B2B3A"/>
                    </a:solidFill>
                    <a:latin typeface="Calibri"/>
                  </a:defRPr>
                </a:pPr>
              </a:p>
            </c:txPr>
            <c:showLegendKey val="0"/>
            <c:showVal val="1"/>
            <c:showCatName val="0"/>
            <c:showSerName val="0"/>
            <c:showPercent val="0"/>
            <c:showBubbleSize val="0"/>
            <c:showLeaderLines val="0"/>
          </c:dLbls>
          <c:dPt>
            <c:idx val="0"/>
            <c:invertIfNegative val="0"/>
            <c:bubble3D val="0"/>
            <c:spPr>
              <a:solidFill>
                <a:srgbClr val="5B6B7F"/>
              </a:solidFill>
              <a:effectLst/>
            </c:spPr>
          </c:dPt>
          <c:dPt>
            <c:idx val="1"/>
            <c:invertIfNegative val="0"/>
            <c:bubble3D val="0"/>
            <c:spPr>
              <a:solidFill>
                <a:srgbClr val="5B6B7F"/>
              </a:solidFill>
              <a:effectLst/>
            </c:spPr>
          </c:dPt>
          <c:dPt>
            <c:idx val="2"/>
            <c:invertIfNegative val="0"/>
            <c:bubble3D val="0"/>
            <c:spPr>
              <a:solidFill>
                <a:srgbClr val="138D7E"/>
              </a:solidFill>
              <a:effectLst/>
            </c:spPr>
          </c:dPt>
          <c:dPt>
            <c:idx val="3"/>
            <c:invertIfNegative val="0"/>
            <c:bubble3D val="0"/>
            <c:spPr>
              <a:solidFill>
                <a:srgbClr val="5B6B7F"/>
              </a:solidFill>
              <a:effectLst/>
            </c:spPr>
          </c:dPt>
          <c:cat>
            <c:multiLvlStrRef>
              <c:f>Sheet1!$A$2:$A$5</c:f>
              <c:multiLvlStrCache>
                <c:ptCount val="4"/>
                <c:lvl>
                  <c:pt idx="0">
                    <c:v>AE-base</c:v>
                  </c:pt>
                  <c:pt idx="1">
                    <c:v>AE-b4</c:v>
                  </c:pt>
                  <c:pt idx="2">
                    <c:v>AE-b8</c:v>
                  </c:pt>
                  <c:pt idx="3">
                    <c:v>AE-b12</c:v>
                  </c:pt>
                </c:lvl>
              </c:multiLvlStrCache>
            </c:multiLvlStrRef>
          </c:cat>
          <c:val>
            <c:numRef>
              <c:f>Sheet1!$B$2:$B$5</c:f>
              <c:numCache>
                <c:formatCode>General</c:formatCode>
                <c:ptCount val="4"/>
                <c:pt idx="0">
                  <c:v>0.405</c:v>
                </c:pt>
                <c:pt idx="1">
                  <c:v>0.377</c:v>
                </c:pt>
                <c:pt idx="2">
                  <c:v>0.413</c:v>
                </c:pt>
                <c:pt idx="3">
                  <c:v>0.282</c:v>
                </c:pt>
              </c:numCache>
            </c:numRef>
          </c:val>
        </c:ser>
        <c:dLbls>
          <c:numFmt formatCode="0.000" sourceLinked="0"/>
          <c:txPr>
            <a:bodyPr/>
            <a:lstStyle/>
            <a:p>
              <a:pPr>
                <a:defRPr b="0" i="0" strike="noStrike" sz="1200" u="none">
                  <a:solidFill>
                    <a:srgbClr val="1B2B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A"/>
                </a:solidFill>
                <a:latin typeface="Calibri"/>
              </a:defRPr>
            </a:pPr>
            <a:endParaRPr lang="en-US"/>
          </a:p>
        </c:txPr>
        <c:crossAx val="2094734552"/>
        <c:crosses val="autoZero"/>
        <c:auto val="1"/>
        <c:lblAlgn val="ctr"/>
        <c:noMultiLvlLbl val="1"/>
      </c:catAx>
      <c:valAx>
        <c:axId val="2094734552"/>
        <c:scaling>
          <c:orientation val="minMax"/>
          <c:max val="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Test average precision</a:t>
            </a:r>
          </a:p>
        </c:rich>
      </c:tx>
      <c:layout/>
      <c:overlay val="0"/>
    </c:title>
    <c:autoTitleDeleted val="0"/>
    <c:plotArea>
      <c:layout/>
      <c:barChart>
        <c:barDir val="col"/>
        <c:grouping val="clustered"/>
        <c:varyColors val="0"/>
        <c:ser>
          <c:idx val="0"/>
          <c:order val="0"/>
          <c:tx>
            <c:strRef>
              <c:f>Sheet1!$B$1</c:f>
              <c:strCache>
                <c:ptCount val="1"/>
                <c:pt idx="0">
                  <c:v>Test AP</c:v>
                </c:pt>
              </c:strCache>
            </c:strRef>
          </c:tx>
          <c:spPr>
            <a:solidFill>
              <a:srgbClr val="138D7E"/>
            </a:solidFill>
            <a:effectLst/>
          </c:spPr>
          <c:invertIfNegative val="0"/>
          <c:dLbls>
            <c:numFmt formatCode="0.000" sourceLinked="0"/>
            <c:txPr>
              <a:bodyPr/>
              <a:lstStyle/>
              <a:p>
                <a:pPr>
                  <a:defRPr b="0" i="0" strike="noStrike" sz="1200" u="none">
                    <a:solidFill>
                      <a:srgbClr val="1B2B3A"/>
                    </a:solidFill>
                    <a:latin typeface="Calibri"/>
                  </a:defRPr>
                </a:pPr>
              </a:p>
            </c:txPr>
            <c:showLegendKey val="0"/>
            <c:showVal val="1"/>
            <c:showCatName val="0"/>
            <c:showSerName val="0"/>
            <c:showPercent val="0"/>
            <c:showBubbleSize val="0"/>
            <c:showLeaderLines val="0"/>
          </c:dLbls>
          <c:dPt>
            <c:idx val="0"/>
            <c:invertIfNegative val="0"/>
            <c:bubble3D val="0"/>
            <c:spPr>
              <a:solidFill>
                <a:srgbClr val="138D7E"/>
              </a:solidFill>
              <a:effectLst/>
            </c:spPr>
          </c:dPt>
          <c:dPt>
            <c:idx val="1"/>
            <c:invertIfNegative val="0"/>
            <c:bubble3D val="0"/>
            <c:spPr>
              <a:solidFill>
                <a:srgbClr val="5B6B7F"/>
              </a:solidFill>
              <a:effectLst/>
            </c:spPr>
          </c:dPt>
          <c:dPt>
            <c:idx val="2"/>
            <c:invertIfNegative val="0"/>
            <c:bubble3D val="0"/>
            <c:spPr>
              <a:solidFill>
                <a:srgbClr val="5B6B7F"/>
              </a:solidFill>
              <a:effectLst/>
            </c:spPr>
          </c:dPt>
          <c:dPt>
            <c:idx val="3"/>
            <c:invertIfNegative val="0"/>
            <c:bubble3D val="0"/>
            <c:spPr>
              <a:solidFill>
                <a:srgbClr val="C5CED8"/>
              </a:solidFill>
              <a:effectLst/>
            </c:spPr>
          </c:dPt>
          <c:cat>
            <c:multiLvlStrRef>
              <c:f>Sheet1!$A$2:$A$5</c:f>
              <c:multiLvlStrCache>
                <c:ptCount val="4"/>
                <c:lvl>
                  <c:pt idx="0">
                    <c:v>GMM</c:v>
                  </c:pt>
                  <c:pt idx="1">
                    <c:v>AE base</c:v>
                  </c:pt>
                  <c:pt idx="2">
                    <c:v>AE b8</c:v>
                  </c:pt>
                  <c:pt idx="3">
                    <c:v>Random</c:v>
                  </c:pt>
                </c:lvl>
              </c:multiLvlStrCache>
            </c:multiLvlStrRef>
          </c:cat>
          <c:val>
            <c:numRef>
              <c:f>Sheet1!$B$2:$B$5</c:f>
              <c:numCache>
                <c:formatCode>General</c:formatCode>
                <c:ptCount val="4"/>
                <c:pt idx="0">
                  <c:v>0.473</c:v>
                </c:pt>
                <c:pt idx="1">
                  <c:v>0.357</c:v>
                </c:pt>
                <c:pt idx="2">
                  <c:v>0.358</c:v>
                </c:pt>
                <c:pt idx="3">
                  <c:v>0.0017</c:v>
                </c:pt>
              </c:numCache>
            </c:numRef>
          </c:val>
        </c:ser>
        <c:dLbls>
          <c:numFmt formatCode="0.000" sourceLinked="0"/>
          <c:txPr>
            <a:bodyPr/>
            <a:lstStyle/>
            <a:p>
              <a:pPr>
                <a:defRPr b="0" i="0" strike="noStrike" sz="1200" u="none">
                  <a:solidFill>
                    <a:srgbClr val="1B2B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A"/>
                </a:solidFill>
                <a:latin typeface="Calibri"/>
              </a:defRPr>
            </a:pPr>
            <a:endParaRPr lang="en-US"/>
          </a:p>
        </c:txPr>
        <c:crossAx val="2094734552"/>
        <c:crosses val="autoZero"/>
        <c:auto val="1"/>
        <c:lblAlgn val="ctr"/>
        <c:noMultiLvlLbl val="1"/>
      </c:catAx>
      <c:valAx>
        <c:axId val="2094734552"/>
        <c:scaling>
          <c:orientation val="minMax"/>
          <c:max val="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Card Fraud Triage, compares two unsupervised ways of detecting credit-card fraud: a Gaussian Mixture Model and an autoencoder. Only 492 transactions, 0.173%, are fraud, so a model that never flags anything is 99.8% accurate. We use precision, recall and average precision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removed 1,081 duplicate rows so no transaction could appear in both training and test. Our 29 inputs are V1 to V28 and the log of the amount; we dropped Time and never use the label as an input. We split 60/20/20 with stratification, kept only legitimate transactions for training, and set aside 10% for early stopping. The scaler is fitted on legitimate training rows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model is a Gaussian Mixture Model: a weighted mix of Gaussian blobs with full covariance matrices, fitted by EM on legitimate data. The suspicion score is the negative log-likelihood. We compared one to eight components using AIC and BIC; BIC was lowest at six. We added covariance regularisation because components collapsed with the default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model is a PyTorch autoencoder, 29, 16, 8, 16, 29, trained on legitimate transactions with mean squared error, Adam and early stopping on held-out legitimate rows. Its score is the reconstruction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test set the GMM average precision was 0.473 and the autoencoder 0.358, against 0.0017 for random ranking. At the validation threshold all models caught 74 of 95 frauds with about 11%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precision-recall curves show the GMM above the autoencoder for most recall levels, and the GMM top 100 alerts contain 49 frauds versus 41. At a 1% false-positive rate every model catches about 78% of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conclusion: both unsupervised detectors work far better than chance; the simpler GMM ranked fraud best; at the operating point they were tied; and about 20% of frauds look completely normal to both. The README explains how to install the environment and run the notebook in about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ctr"/>
          <a:lstStyle/>
          <a:p>
            <a:pPr indent="0" marL="0">
              <a:buNone/>
            </a:pPr>
            <a:r>
              <a:rPr lang="en-US" sz="1200" b="1" dirty="0">
                <a:solidFill>
                  <a:srgbClr val="9FD8D0"/>
                </a:solidFill>
                <a:latin typeface="Calibri" pitchFamily="34" charset="0"/>
                <a:ea typeface="Calibri" pitchFamily="34" charset="-122"/>
                <a:cs typeface="Calibri" pitchFamily="34" charset="-120"/>
              </a:rPr>
              <a:t>C O L L E G E   M L   P R O J E C T   P R E S E N T A T I O N</a:t>
            </a:r>
            <a:endParaRPr lang="en-US" sz="1200" dirty="0"/>
          </a:p>
        </p:txBody>
      </p:sp>
      <p:sp>
        <p:nvSpPr>
          <p:cNvPr id="3" name="Text 1"/>
          <p:cNvSpPr txBox="1"/>
          <p:nvPr/>
        </p:nvSpPr>
        <p:spPr>
          <a:xfrm>
            <a:off x="548640" y="868680"/>
            <a:ext cx="1051560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Card Fraud Triage via Gaussian Mixture Density Scoring and Autoencoder Anomaly Detection</a:t>
            </a:r>
            <a:endParaRPr lang="en-US" sz="3600" dirty="0"/>
          </a:p>
        </p:txBody>
      </p:sp>
      <p:sp>
        <p:nvSpPr>
          <p:cNvPr id="4" name="Text 2"/>
          <p:cNvSpPr txBox="1"/>
          <p:nvPr/>
        </p:nvSpPr>
        <p:spPr>
          <a:xfrm>
            <a:off x="548640" y="2423160"/>
            <a:ext cx="10058400" cy="731520"/>
          </a:xfrm>
          <a:prstGeom prst="rect">
            <a:avLst/>
          </a:prstGeom>
          <a:noFill/>
          <a:ln/>
        </p:spPr>
        <p:txBody>
          <a:bodyPr wrap="square" lIns="0" tIns="0" rIns="0" bIns="0" rtlCol="0" anchor="t"/>
          <a:lstStyle/>
          <a:p>
            <a:pPr indent="0" marL="0">
              <a:buNone/>
            </a:pPr>
            <a:r>
              <a:rPr lang="en-US" sz="1600" dirty="0">
                <a:solidFill>
                  <a:srgbClr val="CFE3F1"/>
                </a:solidFill>
                <a:latin typeface="Calibri" pitchFamily="34" charset="0"/>
                <a:ea typeface="Calibri" pitchFamily="34" charset="-122"/>
                <a:cs typeface="Calibri" pitchFamily="34" charset="-120"/>
              </a:rPr>
              <a:t>Two unsupervised anomaly detectors trained only on legitimate card transactions, thresholded on validation data and compared once on an untouched test set</a:t>
            </a:r>
            <a:endParaRPr lang="en-US" sz="1600" dirty="0"/>
          </a:p>
        </p:txBody>
      </p:sp>
      <p:sp>
        <p:nvSpPr>
          <p:cNvPr id="5" name="Text 3"/>
          <p:cNvSpPr txBox="1"/>
          <p:nvPr/>
        </p:nvSpPr>
        <p:spPr>
          <a:xfrm>
            <a:off x="548640" y="3429000"/>
            <a:ext cx="3657600" cy="320040"/>
          </a:xfrm>
          <a:prstGeom prst="rect">
            <a:avLst/>
          </a:prstGeom>
          <a:noFill/>
          <a:ln/>
        </p:spPr>
        <p:txBody>
          <a:bodyPr wrap="square" lIns="0" tIns="0" rIns="0" bIns="0" rtlCol="0" anchor="ctr"/>
          <a:lstStyle/>
          <a:p>
            <a:pPr indent="0" marL="0">
              <a:buNone/>
            </a:pPr>
            <a:r>
              <a:rPr lang="en-US" sz="1400" b="1" dirty="0">
                <a:solidFill>
                  <a:srgbClr val="9FD8D0"/>
                </a:solidFill>
                <a:latin typeface="Calibri" pitchFamily="34" charset="0"/>
                <a:ea typeface="Calibri" pitchFamily="34" charset="-122"/>
                <a:cs typeface="Calibri" pitchFamily="34" charset="-120"/>
              </a:rPr>
              <a:t>Project team</a:t>
            </a:r>
            <a:endParaRPr lang="en-US" sz="1400" dirty="0"/>
          </a:p>
        </p:txBody>
      </p:sp>
      <p:sp>
        <p:nvSpPr>
          <p:cNvPr id="6" name="Shape 4"/>
          <p:cNvSpPr/>
          <p:nvPr/>
        </p:nvSpPr>
        <p:spPr>
          <a:xfrm>
            <a:off x="548640" y="3840480"/>
            <a:ext cx="3566160" cy="960120"/>
          </a:xfrm>
          <a:prstGeom prst="roundRect">
            <a:avLst>
              <a:gd name="adj" fmla="val 7619"/>
            </a:avLst>
          </a:prstGeom>
          <a:solidFill>
            <a:srgbClr val="16345C"/>
          </a:solidFill>
          <a:ln w="12700">
            <a:solidFill>
              <a:srgbClr val="16345C"/>
            </a:solidFill>
            <a:prstDash val="solid"/>
          </a:ln>
        </p:spPr>
      </p:sp>
      <p:sp>
        <p:nvSpPr>
          <p:cNvPr id="7" name="Text 5"/>
          <p:cNvSpPr txBox="1"/>
          <p:nvPr/>
        </p:nvSpPr>
        <p:spPr>
          <a:xfrm>
            <a:off x="777240" y="3968496"/>
            <a:ext cx="31089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Yash</a:t>
            </a:r>
            <a:endParaRPr lang="en-US" sz="2000" dirty="0"/>
          </a:p>
        </p:txBody>
      </p:sp>
      <p:sp>
        <p:nvSpPr>
          <p:cNvPr id="8" name="Text 6"/>
          <p:cNvSpPr txBox="1"/>
          <p:nvPr/>
        </p:nvSpPr>
        <p:spPr>
          <a:xfrm>
            <a:off x="777240" y="4370832"/>
            <a:ext cx="3108960" cy="320040"/>
          </a:xfrm>
          <a:prstGeom prst="rect">
            <a:avLst/>
          </a:prstGeom>
          <a:noFill/>
          <a:ln/>
        </p:spPr>
        <p:txBody>
          <a:bodyPr wrap="square" lIns="0" tIns="0" rIns="0" bIns="0" rtlCol="0" anchor="ctr"/>
          <a:lstStyle/>
          <a:p>
            <a:pPr indent="0" marL="0">
              <a:buNone/>
            </a:pPr>
            <a:r>
              <a:rPr lang="en-US" sz="1300" dirty="0">
                <a:solidFill>
                  <a:srgbClr val="CFE3F1"/>
                </a:solidFill>
                <a:latin typeface="Calibri" pitchFamily="34" charset="0"/>
                <a:ea typeface="Calibri" pitchFamily="34" charset="-122"/>
                <a:cs typeface="Calibri" pitchFamily="34" charset="-120"/>
              </a:rPr>
              <a:t>Lead · GMM, Thresholds &amp; Leakage</a:t>
            </a:r>
            <a:endParaRPr lang="en-US" sz="1300" dirty="0"/>
          </a:p>
        </p:txBody>
      </p:sp>
      <p:sp>
        <p:nvSpPr>
          <p:cNvPr id="9" name="Shape 7"/>
          <p:cNvSpPr/>
          <p:nvPr/>
        </p:nvSpPr>
        <p:spPr>
          <a:xfrm>
            <a:off x="4297680" y="3840480"/>
            <a:ext cx="3566160" cy="960120"/>
          </a:xfrm>
          <a:prstGeom prst="roundRect">
            <a:avLst>
              <a:gd name="adj" fmla="val 7619"/>
            </a:avLst>
          </a:prstGeom>
          <a:solidFill>
            <a:srgbClr val="16345C"/>
          </a:solidFill>
          <a:ln w="12700">
            <a:solidFill>
              <a:srgbClr val="16345C"/>
            </a:solidFill>
            <a:prstDash val="solid"/>
          </a:ln>
        </p:spPr>
      </p:sp>
      <p:sp>
        <p:nvSpPr>
          <p:cNvPr id="10" name="Text 8"/>
          <p:cNvSpPr txBox="1"/>
          <p:nvPr/>
        </p:nvSpPr>
        <p:spPr>
          <a:xfrm>
            <a:off x="4526280" y="3968496"/>
            <a:ext cx="31089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Ram</a:t>
            </a:r>
            <a:endParaRPr lang="en-US" sz="2000" dirty="0"/>
          </a:p>
        </p:txBody>
      </p:sp>
      <p:sp>
        <p:nvSpPr>
          <p:cNvPr id="11" name="Text 9"/>
          <p:cNvSpPr txBox="1"/>
          <p:nvPr/>
        </p:nvSpPr>
        <p:spPr>
          <a:xfrm>
            <a:off x="4526280" y="4370832"/>
            <a:ext cx="3108960" cy="320040"/>
          </a:xfrm>
          <a:prstGeom prst="rect">
            <a:avLst/>
          </a:prstGeom>
          <a:noFill/>
          <a:ln/>
        </p:spPr>
        <p:txBody>
          <a:bodyPr wrap="square" lIns="0" tIns="0" rIns="0" bIns="0" rtlCol="0" anchor="ctr"/>
          <a:lstStyle/>
          <a:p>
            <a:pPr indent="0" marL="0">
              <a:buNone/>
            </a:pPr>
            <a:r>
              <a:rPr lang="en-US" sz="1300" dirty="0">
                <a:solidFill>
                  <a:srgbClr val="CFE3F1"/>
                </a:solidFill>
                <a:latin typeface="Calibri" pitchFamily="34" charset="0"/>
                <a:ea typeface="Calibri" pitchFamily="34" charset="-122"/>
                <a:cs typeface="Calibri" pitchFamily="34" charset="-120"/>
              </a:rPr>
              <a:t>Lead · Autoencoder &amp; Evaluation</a:t>
            </a:r>
            <a:endParaRPr lang="en-US" sz="1300" dirty="0"/>
          </a:p>
        </p:txBody>
      </p:sp>
      <p:sp>
        <p:nvSpPr>
          <p:cNvPr id="12" name="Shape 10"/>
          <p:cNvSpPr/>
          <p:nvPr/>
        </p:nvSpPr>
        <p:spPr>
          <a:xfrm>
            <a:off x="8046720" y="3840480"/>
            <a:ext cx="3566160" cy="960120"/>
          </a:xfrm>
          <a:prstGeom prst="roundRect">
            <a:avLst>
              <a:gd name="adj" fmla="val 7619"/>
            </a:avLst>
          </a:prstGeom>
          <a:solidFill>
            <a:srgbClr val="16345C"/>
          </a:solidFill>
          <a:ln w="12700">
            <a:solidFill>
              <a:srgbClr val="16345C"/>
            </a:solidFill>
            <a:prstDash val="solid"/>
          </a:ln>
        </p:spPr>
      </p:sp>
      <p:sp>
        <p:nvSpPr>
          <p:cNvPr id="13" name="Text 11"/>
          <p:cNvSpPr txBox="1"/>
          <p:nvPr/>
        </p:nvSpPr>
        <p:spPr>
          <a:xfrm>
            <a:off x="8275320" y="3968496"/>
            <a:ext cx="31089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Archit</a:t>
            </a:r>
            <a:endParaRPr lang="en-US" sz="2000" dirty="0"/>
          </a:p>
        </p:txBody>
      </p:sp>
      <p:sp>
        <p:nvSpPr>
          <p:cNvPr id="14" name="Text 12"/>
          <p:cNvSpPr txBox="1"/>
          <p:nvPr/>
        </p:nvSpPr>
        <p:spPr>
          <a:xfrm>
            <a:off x="8275320" y="4370832"/>
            <a:ext cx="3108960" cy="320040"/>
          </a:xfrm>
          <a:prstGeom prst="rect">
            <a:avLst/>
          </a:prstGeom>
          <a:noFill/>
          <a:ln/>
        </p:spPr>
        <p:txBody>
          <a:bodyPr wrap="square" lIns="0" tIns="0" rIns="0" bIns="0" rtlCol="0" anchor="ctr"/>
          <a:lstStyle/>
          <a:p>
            <a:pPr indent="0" marL="0">
              <a:buNone/>
            </a:pPr>
            <a:r>
              <a:rPr lang="en-US" sz="1300" dirty="0">
                <a:solidFill>
                  <a:srgbClr val="CFE3F1"/>
                </a:solidFill>
                <a:latin typeface="Calibri" pitchFamily="34" charset="0"/>
                <a:ea typeface="Calibri" pitchFamily="34" charset="-122"/>
                <a:cs typeface="Calibri" pitchFamily="34" charset="-120"/>
              </a:rPr>
              <a:t>Introduction &amp; Data Exploration</a:t>
            </a:r>
            <a:endParaRPr lang="en-US" sz="1300" dirty="0"/>
          </a:p>
        </p:txBody>
      </p:sp>
      <p:sp>
        <p:nvSpPr>
          <p:cNvPr id="15" name="Shape 13"/>
          <p:cNvSpPr/>
          <p:nvPr/>
        </p:nvSpPr>
        <p:spPr>
          <a:xfrm>
            <a:off x="548640" y="4983480"/>
            <a:ext cx="3566160" cy="960120"/>
          </a:xfrm>
          <a:prstGeom prst="roundRect">
            <a:avLst>
              <a:gd name="adj" fmla="val 7619"/>
            </a:avLst>
          </a:prstGeom>
          <a:solidFill>
            <a:srgbClr val="16345C"/>
          </a:solidFill>
          <a:ln w="12700">
            <a:solidFill>
              <a:srgbClr val="16345C"/>
            </a:solidFill>
            <a:prstDash val="solid"/>
          </a:ln>
        </p:spPr>
      </p:sp>
      <p:sp>
        <p:nvSpPr>
          <p:cNvPr id="16" name="Text 14"/>
          <p:cNvSpPr txBox="1"/>
          <p:nvPr/>
        </p:nvSpPr>
        <p:spPr>
          <a:xfrm>
            <a:off x="777240" y="5111496"/>
            <a:ext cx="31089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Phalak</a:t>
            </a:r>
            <a:endParaRPr lang="en-US" sz="2000" dirty="0"/>
          </a:p>
        </p:txBody>
      </p:sp>
      <p:sp>
        <p:nvSpPr>
          <p:cNvPr id="17" name="Text 15"/>
          <p:cNvSpPr txBox="1"/>
          <p:nvPr/>
        </p:nvSpPr>
        <p:spPr>
          <a:xfrm>
            <a:off x="777240" y="5513832"/>
            <a:ext cx="3108960" cy="320040"/>
          </a:xfrm>
          <a:prstGeom prst="rect">
            <a:avLst/>
          </a:prstGeom>
          <a:noFill/>
          <a:ln/>
        </p:spPr>
        <p:txBody>
          <a:bodyPr wrap="square" lIns="0" tIns="0" rIns="0" bIns="0" rtlCol="0" anchor="ctr"/>
          <a:lstStyle/>
          <a:p>
            <a:pPr indent="0" marL="0">
              <a:buNone/>
            </a:pPr>
            <a:r>
              <a:rPr lang="en-US" sz="1300" dirty="0">
                <a:solidFill>
                  <a:srgbClr val="CFE3F1"/>
                </a:solidFill>
                <a:latin typeface="Calibri" pitchFamily="34" charset="0"/>
                <a:ea typeface="Calibri" pitchFamily="34" charset="-122"/>
                <a:cs typeface="Calibri" pitchFamily="34" charset="-120"/>
              </a:rPr>
              <a:t>Data Preparation &amp; Splitting</a:t>
            </a:r>
            <a:endParaRPr lang="en-US" sz="1300" dirty="0"/>
          </a:p>
        </p:txBody>
      </p:sp>
      <p:sp>
        <p:nvSpPr>
          <p:cNvPr id="18" name="Shape 16"/>
          <p:cNvSpPr/>
          <p:nvPr/>
        </p:nvSpPr>
        <p:spPr>
          <a:xfrm>
            <a:off x="4297680" y="4983480"/>
            <a:ext cx="3566160" cy="960120"/>
          </a:xfrm>
          <a:prstGeom prst="roundRect">
            <a:avLst>
              <a:gd name="adj" fmla="val 7619"/>
            </a:avLst>
          </a:prstGeom>
          <a:solidFill>
            <a:srgbClr val="16345C"/>
          </a:solidFill>
          <a:ln w="12700">
            <a:solidFill>
              <a:srgbClr val="16345C"/>
            </a:solidFill>
            <a:prstDash val="solid"/>
          </a:ln>
        </p:spPr>
      </p:sp>
      <p:sp>
        <p:nvSpPr>
          <p:cNvPr id="19" name="Text 17"/>
          <p:cNvSpPr txBox="1"/>
          <p:nvPr/>
        </p:nvSpPr>
        <p:spPr>
          <a:xfrm>
            <a:off x="4526280" y="5111496"/>
            <a:ext cx="31089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Preet</a:t>
            </a:r>
            <a:endParaRPr lang="en-US" sz="2000" dirty="0"/>
          </a:p>
        </p:txBody>
      </p:sp>
      <p:sp>
        <p:nvSpPr>
          <p:cNvPr id="20" name="Text 18"/>
          <p:cNvSpPr txBox="1"/>
          <p:nvPr/>
        </p:nvSpPr>
        <p:spPr>
          <a:xfrm>
            <a:off x="4526280" y="5513832"/>
            <a:ext cx="3108960" cy="320040"/>
          </a:xfrm>
          <a:prstGeom prst="rect">
            <a:avLst/>
          </a:prstGeom>
          <a:noFill/>
          <a:ln/>
        </p:spPr>
        <p:txBody>
          <a:bodyPr wrap="square" lIns="0" tIns="0" rIns="0" bIns="0" rtlCol="0" anchor="ctr"/>
          <a:lstStyle/>
          <a:p>
            <a:pPr indent="0" marL="0">
              <a:buNone/>
            </a:pPr>
            <a:r>
              <a:rPr lang="en-US" sz="1300" dirty="0">
                <a:solidFill>
                  <a:srgbClr val="CFE3F1"/>
                </a:solidFill>
                <a:latin typeface="Calibri" pitchFamily="34" charset="0"/>
                <a:ea typeface="Calibri" pitchFamily="34" charset="-122"/>
                <a:cs typeface="Calibri" pitchFamily="34" charset="-120"/>
              </a:rPr>
              <a:t>Visualisation, Conclusion &amp; README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Problem and Objective</a:t>
            </a:r>
            <a:endParaRPr lang="en-US" sz="3200" dirty="0"/>
          </a:p>
        </p:txBody>
      </p:sp>
      <p:sp>
        <p:nvSpPr>
          <p:cNvPr id="4" name="Text 1"/>
          <p:cNvSpPr txBox="1"/>
          <p:nvPr/>
        </p:nvSpPr>
        <p:spPr>
          <a:xfrm>
            <a:off x="548640" y="1508760"/>
            <a:ext cx="630936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Card fraud is rare, so labelled examples are scarce and the classes are extremely imbalanced</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Goal: rank transactions by how suspicious they are, so analysts review the riskiest first</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Approach: learn what a legitimate transaction looks like, then flag what does not fit</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Question: does a density model (GMM) or a neural network (autoencoder) rank fraud better?</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Both models see the same 29 features and the same splits</a:t>
            </a:r>
            <a:endParaRPr lang="en-US" sz="1500" dirty="0"/>
          </a:p>
        </p:txBody>
      </p:sp>
      <p:sp>
        <p:nvSpPr>
          <p:cNvPr id="5" name="Shape 2"/>
          <p:cNvSpPr/>
          <p:nvPr/>
        </p:nvSpPr>
        <p:spPr>
          <a:xfrm>
            <a:off x="7315200" y="1508760"/>
            <a:ext cx="2103120" cy="1417320"/>
          </a:xfrm>
          <a:prstGeom prst="roundRect">
            <a:avLst>
              <a:gd name="adj" fmla="val 5161"/>
            </a:avLst>
          </a:prstGeom>
          <a:solidFill>
            <a:srgbClr val="EEF3F7"/>
          </a:solidFill>
          <a:ln w="12700">
            <a:solidFill>
              <a:srgbClr val="EEF3F7"/>
            </a:solidFill>
            <a:prstDash val="solid"/>
          </a:ln>
        </p:spPr>
      </p:sp>
      <p:sp>
        <p:nvSpPr>
          <p:cNvPr id="6" name="Text 3"/>
          <p:cNvSpPr txBox="1"/>
          <p:nvPr/>
        </p:nvSpPr>
        <p:spPr>
          <a:xfrm>
            <a:off x="7543800" y="1618488"/>
            <a:ext cx="1645920" cy="708660"/>
          </a:xfrm>
          <a:prstGeom prst="rect">
            <a:avLst/>
          </a:prstGeom>
          <a:noFill/>
          <a:ln/>
        </p:spPr>
        <p:txBody>
          <a:bodyPr wrap="square" lIns="0" tIns="0" rIns="0" bIns="0" rtlCol="0" anchor="ctr"/>
          <a:lstStyle/>
          <a:p>
            <a:pPr indent="0" marL="0">
              <a:buNone/>
            </a:pPr>
            <a:r>
              <a:rPr lang="en-US" sz="2800" b="1" dirty="0">
                <a:solidFill>
                  <a:srgbClr val="138D7E"/>
                </a:solidFill>
                <a:latin typeface="Cambria" pitchFamily="34" charset="0"/>
                <a:ea typeface="Cambria" pitchFamily="34" charset="-122"/>
                <a:cs typeface="Cambria" pitchFamily="34" charset="-120"/>
              </a:rPr>
              <a:t>284,807</a:t>
            </a:r>
            <a:endParaRPr lang="en-US" sz="2800" dirty="0"/>
          </a:p>
        </p:txBody>
      </p:sp>
      <p:sp>
        <p:nvSpPr>
          <p:cNvPr id="7" name="Text 4"/>
          <p:cNvSpPr txBox="1"/>
          <p:nvPr/>
        </p:nvSpPr>
        <p:spPr>
          <a:xfrm>
            <a:off x="7543800" y="2288286"/>
            <a:ext cx="1645920" cy="566928"/>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transactions, 2 days, European cardholders</a:t>
            </a:r>
            <a:endParaRPr lang="en-US" sz="1300" dirty="0"/>
          </a:p>
        </p:txBody>
      </p:sp>
      <p:sp>
        <p:nvSpPr>
          <p:cNvPr id="8" name="Shape 5"/>
          <p:cNvSpPr/>
          <p:nvPr/>
        </p:nvSpPr>
        <p:spPr>
          <a:xfrm>
            <a:off x="9537192" y="1508760"/>
            <a:ext cx="2103120" cy="1417320"/>
          </a:xfrm>
          <a:prstGeom prst="roundRect">
            <a:avLst>
              <a:gd name="adj" fmla="val 5161"/>
            </a:avLst>
          </a:prstGeom>
          <a:solidFill>
            <a:srgbClr val="EEF3F7"/>
          </a:solidFill>
          <a:ln w="12700">
            <a:solidFill>
              <a:srgbClr val="EEF3F7"/>
            </a:solidFill>
            <a:prstDash val="solid"/>
          </a:ln>
        </p:spPr>
      </p:sp>
      <p:sp>
        <p:nvSpPr>
          <p:cNvPr id="9" name="Text 6"/>
          <p:cNvSpPr txBox="1"/>
          <p:nvPr/>
        </p:nvSpPr>
        <p:spPr>
          <a:xfrm>
            <a:off x="9765792" y="1618488"/>
            <a:ext cx="1645920" cy="708660"/>
          </a:xfrm>
          <a:prstGeom prst="rect">
            <a:avLst/>
          </a:prstGeom>
          <a:noFill/>
          <a:ln/>
        </p:spPr>
        <p:txBody>
          <a:bodyPr wrap="square" lIns="0" tIns="0" rIns="0" bIns="0" rtlCol="0" anchor="ctr"/>
          <a:lstStyle/>
          <a:p>
            <a:pPr indent="0" marL="0">
              <a:buNone/>
            </a:pPr>
            <a:r>
              <a:rPr lang="en-US" sz="2800" b="1" dirty="0">
                <a:solidFill>
                  <a:srgbClr val="138D7E"/>
                </a:solidFill>
                <a:latin typeface="Cambria" pitchFamily="34" charset="0"/>
                <a:ea typeface="Cambria" pitchFamily="34" charset="-122"/>
                <a:cs typeface="Cambria" pitchFamily="34" charset="-120"/>
              </a:rPr>
              <a:t>0.173%</a:t>
            </a:r>
            <a:endParaRPr lang="en-US" sz="2800" dirty="0"/>
          </a:p>
        </p:txBody>
      </p:sp>
      <p:sp>
        <p:nvSpPr>
          <p:cNvPr id="10" name="Text 7"/>
          <p:cNvSpPr txBox="1"/>
          <p:nvPr/>
        </p:nvSpPr>
        <p:spPr>
          <a:xfrm>
            <a:off x="9765792" y="2288286"/>
            <a:ext cx="1645920" cy="566928"/>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fraud rate: 492 frauds</a:t>
            </a:r>
            <a:endParaRPr lang="en-US" sz="1300" dirty="0"/>
          </a:p>
        </p:txBody>
      </p:sp>
      <p:sp>
        <p:nvSpPr>
          <p:cNvPr id="11" name="Shape 8"/>
          <p:cNvSpPr/>
          <p:nvPr/>
        </p:nvSpPr>
        <p:spPr>
          <a:xfrm>
            <a:off x="7315200" y="3108960"/>
            <a:ext cx="2103120" cy="1417320"/>
          </a:xfrm>
          <a:prstGeom prst="roundRect">
            <a:avLst>
              <a:gd name="adj" fmla="val 5161"/>
            </a:avLst>
          </a:prstGeom>
          <a:solidFill>
            <a:srgbClr val="EEF3F7"/>
          </a:solidFill>
          <a:ln w="12700">
            <a:solidFill>
              <a:srgbClr val="EEF3F7"/>
            </a:solidFill>
            <a:prstDash val="solid"/>
          </a:ln>
        </p:spPr>
      </p:sp>
      <p:sp>
        <p:nvSpPr>
          <p:cNvPr id="12" name="Text 9"/>
          <p:cNvSpPr txBox="1"/>
          <p:nvPr/>
        </p:nvSpPr>
        <p:spPr>
          <a:xfrm>
            <a:off x="7543800" y="3218688"/>
            <a:ext cx="1645920" cy="708660"/>
          </a:xfrm>
          <a:prstGeom prst="rect">
            <a:avLst/>
          </a:prstGeom>
          <a:noFill/>
          <a:ln/>
        </p:spPr>
        <p:txBody>
          <a:bodyPr wrap="square" lIns="0" tIns="0" rIns="0" bIns="0" rtlCol="0" anchor="ctr"/>
          <a:lstStyle/>
          <a:p>
            <a:pPr indent="0" marL="0">
              <a:buNone/>
            </a:pPr>
            <a:r>
              <a:rPr lang="en-US" sz="2800" b="1" dirty="0">
                <a:solidFill>
                  <a:srgbClr val="138D7E"/>
                </a:solidFill>
                <a:latin typeface="Cambria" pitchFamily="34" charset="0"/>
                <a:ea typeface="Cambria" pitchFamily="34" charset="-122"/>
                <a:cs typeface="Cambria" pitchFamily="34" charset="-120"/>
              </a:rPr>
              <a:t>29</a:t>
            </a:r>
            <a:endParaRPr lang="en-US" sz="2800" dirty="0"/>
          </a:p>
        </p:txBody>
      </p:sp>
      <p:sp>
        <p:nvSpPr>
          <p:cNvPr id="13" name="Text 10"/>
          <p:cNvSpPr txBox="1"/>
          <p:nvPr/>
        </p:nvSpPr>
        <p:spPr>
          <a:xfrm>
            <a:off x="7543800" y="3888486"/>
            <a:ext cx="1645920" cy="566928"/>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features: V1–V28 + Amount_log</a:t>
            </a:r>
            <a:endParaRPr lang="en-US" sz="1300" dirty="0"/>
          </a:p>
        </p:txBody>
      </p:sp>
      <p:sp>
        <p:nvSpPr>
          <p:cNvPr id="14" name="Shape 11"/>
          <p:cNvSpPr/>
          <p:nvPr/>
        </p:nvSpPr>
        <p:spPr>
          <a:xfrm>
            <a:off x="9537192" y="3108960"/>
            <a:ext cx="2103120" cy="1417320"/>
          </a:xfrm>
          <a:prstGeom prst="roundRect">
            <a:avLst>
              <a:gd name="adj" fmla="val 5161"/>
            </a:avLst>
          </a:prstGeom>
          <a:solidFill>
            <a:srgbClr val="EEF3F7"/>
          </a:solidFill>
          <a:ln w="12700">
            <a:solidFill>
              <a:srgbClr val="EEF3F7"/>
            </a:solidFill>
            <a:prstDash val="solid"/>
          </a:ln>
        </p:spPr>
      </p:sp>
      <p:sp>
        <p:nvSpPr>
          <p:cNvPr id="15" name="Text 12"/>
          <p:cNvSpPr txBox="1"/>
          <p:nvPr/>
        </p:nvSpPr>
        <p:spPr>
          <a:xfrm>
            <a:off x="9765792" y="3218688"/>
            <a:ext cx="1645920" cy="708660"/>
          </a:xfrm>
          <a:prstGeom prst="rect">
            <a:avLst/>
          </a:prstGeom>
          <a:noFill/>
          <a:ln/>
        </p:spPr>
        <p:txBody>
          <a:bodyPr wrap="square" lIns="0" tIns="0" rIns="0" bIns="0" rtlCol="0" anchor="ctr"/>
          <a:lstStyle/>
          <a:p>
            <a:pPr indent="0" marL="0">
              <a:buNone/>
            </a:pPr>
            <a:r>
              <a:rPr lang="en-US" sz="2800" b="1" dirty="0">
                <a:solidFill>
                  <a:srgbClr val="138D7E"/>
                </a:solidFill>
                <a:latin typeface="Cambria" pitchFamily="34" charset="0"/>
                <a:ea typeface="Cambria" pitchFamily="34" charset="-122"/>
                <a:cs typeface="Cambria" pitchFamily="34" charset="-120"/>
              </a:rPr>
              <a:t>2</a:t>
            </a:r>
            <a:endParaRPr lang="en-US" sz="2800" dirty="0"/>
          </a:p>
        </p:txBody>
      </p:sp>
      <p:sp>
        <p:nvSpPr>
          <p:cNvPr id="16" name="Text 13"/>
          <p:cNvSpPr txBox="1"/>
          <p:nvPr/>
        </p:nvSpPr>
        <p:spPr>
          <a:xfrm>
            <a:off x="9765792" y="3888486"/>
            <a:ext cx="1645920" cy="566928"/>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models: GMM and autoencoder</a:t>
            </a:r>
            <a:endParaRPr lang="en-US" sz="1300" dirty="0"/>
          </a:p>
        </p:txBody>
      </p:sp>
      <p:sp>
        <p:nvSpPr>
          <p:cNvPr id="17" name="Shape 14"/>
          <p:cNvSpPr/>
          <p:nvPr/>
        </p:nvSpPr>
        <p:spPr>
          <a:xfrm>
            <a:off x="548640" y="5486400"/>
            <a:ext cx="11091672" cy="594360"/>
          </a:xfrm>
          <a:prstGeom prst="roundRect">
            <a:avLst>
              <a:gd name="adj" fmla="val 12308"/>
            </a:avLst>
          </a:prstGeom>
          <a:solidFill>
            <a:srgbClr val="DDF0EE"/>
          </a:solidFill>
          <a:ln w="12700">
            <a:solidFill>
              <a:srgbClr val="DDF0EE"/>
            </a:solidFill>
            <a:prstDash val="solid"/>
          </a:ln>
        </p:spPr>
      </p:sp>
      <p:sp>
        <p:nvSpPr>
          <p:cNvPr id="18" name="Text 15"/>
          <p:cNvSpPr txBox="1"/>
          <p:nvPr/>
        </p:nvSpPr>
        <p:spPr>
          <a:xfrm>
            <a:off x="777240" y="5559552"/>
            <a:ext cx="10634472" cy="448056"/>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Data: Credit Card Fraud Detection, ULB Machine Learning Group (Kaggle). Scope: one dataset, one seed, one split.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Dataset and the Accuracy Trap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852160" cy="914400"/>
        </p:xfrm>
        <a:graphic>
          <a:graphicData uri="http://schemas.openxmlformats.org/drawingml/2006/table">
            <a:tbl>
              <a:tblPr/>
              <a:tblGrid>
                <a:gridCol w="2743200"/>
                <a:gridCol w="310896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Raw size</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284,807 rows × 31 columns</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Fraud / legitimate</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492 / 284,315 (0.173%)</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Exact duplicates removed</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1,081 → 283,726 rows</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Fraud after de-duplication</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473</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Time span</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about 48 hours</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Shape 1"/>
          <p:cNvSpPr/>
          <p:nvPr/>
        </p:nvSpPr>
        <p:spPr>
          <a:xfrm>
            <a:off x="6766560" y="1508760"/>
            <a:ext cx="4873752" cy="2286000"/>
          </a:xfrm>
          <a:prstGeom prst="roundRect">
            <a:avLst>
              <a:gd name="adj" fmla="val 3200"/>
            </a:avLst>
          </a:prstGeom>
          <a:solidFill>
            <a:srgbClr val="0B2545"/>
          </a:solidFill>
          <a:ln w="12700">
            <a:solidFill>
              <a:srgbClr val="0B2545"/>
            </a:solidFill>
            <a:prstDash val="solid"/>
          </a:ln>
        </p:spPr>
      </p:sp>
      <p:sp>
        <p:nvSpPr>
          <p:cNvPr id="5" name="Text 2"/>
          <p:cNvSpPr txBox="1"/>
          <p:nvPr/>
        </p:nvSpPr>
        <p:spPr>
          <a:xfrm>
            <a:off x="7040880" y="1645920"/>
            <a:ext cx="4389120" cy="914400"/>
          </a:xfrm>
          <a:prstGeom prst="rect">
            <a:avLst/>
          </a:prstGeom>
          <a:noFill/>
          <a:ln/>
        </p:spPr>
        <p:txBody>
          <a:bodyPr wrap="square" lIns="0" tIns="0" rIns="0" bIns="0" rtlCol="0" anchor="ctr"/>
          <a:lstStyle/>
          <a:p>
            <a:pPr indent="0" marL="0">
              <a:buNone/>
            </a:pPr>
            <a:r>
              <a:rPr lang="en-US" sz="5400" b="1" dirty="0">
                <a:solidFill>
                  <a:srgbClr val="F0A03C"/>
                </a:solidFill>
                <a:latin typeface="Cambria" pitchFamily="34" charset="0"/>
                <a:ea typeface="Cambria" pitchFamily="34" charset="-122"/>
                <a:cs typeface="Cambria" pitchFamily="34" charset="-120"/>
              </a:rPr>
              <a:t>99.83%</a:t>
            </a:r>
            <a:endParaRPr lang="en-US" sz="5400" dirty="0"/>
          </a:p>
        </p:txBody>
      </p:sp>
      <p:sp>
        <p:nvSpPr>
          <p:cNvPr id="6" name="Text 3"/>
          <p:cNvSpPr txBox="1"/>
          <p:nvPr/>
        </p:nvSpPr>
        <p:spPr>
          <a:xfrm>
            <a:off x="7040880" y="2606040"/>
            <a:ext cx="438912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accuracy of a model that calls every transaction legitimate, while catching 0 frauds</a:t>
            </a:r>
            <a:endParaRPr lang="en-US" sz="1600" dirty="0"/>
          </a:p>
        </p:txBody>
      </p:sp>
      <p:sp>
        <p:nvSpPr>
          <p:cNvPr id="7" name="Shape 4"/>
          <p:cNvSpPr/>
          <p:nvPr/>
        </p:nvSpPr>
        <p:spPr>
          <a:xfrm>
            <a:off x="6766560" y="3977640"/>
            <a:ext cx="4873752" cy="1371600"/>
          </a:xfrm>
          <a:prstGeom prst="roundRect">
            <a:avLst>
              <a:gd name="adj" fmla="val 5333"/>
            </a:avLst>
          </a:prstGeom>
          <a:solidFill>
            <a:srgbClr val="FBE9D0"/>
          </a:solidFill>
          <a:ln w="12700">
            <a:solidFill>
              <a:srgbClr val="FBE9D0"/>
            </a:solidFill>
            <a:prstDash val="solid"/>
          </a:ln>
        </p:spPr>
      </p:sp>
      <p:sp>
        <p:nvSpPr>
          <p:cNvPr id="8" name="Text 5"/>
          <p:cNvSpPr txBox="1"/>
          <p:nvPr/>
        </p:nvSpPr>
        <p:spPr>
          <a:xfrm>
            <a:off x="6995160" y="4087368"/>
            <a:ext cx="4416552"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So we do not use accuracy</a:t>
            </a:r>
            <a:endParaRPr lang="en-US" sz="1800" dirty="0"/>
          </a:p>
        </p:txBody>
      </p:sp>
      <p:sp>
        <p:nvSpPr>
          <p:cNvPr id="9" name="Text 6"/>
          <p:cNvSpPr txBox="1"/>
          <p:nvPr/>
        </p:nvSpPr>
        <p:spPr>
          <a:xfrm>
            <a:off x="6995160" y="4480560"/>
            <a:ext cx="4416552" cy="7772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We report average precision, recall at a fixed false-positive budget and precision at the top 100 alerts.</a:t>
            </a:r>
            <a:endParaRPr lang="en-US" sz="1400" dirty="0"/>
          </a:p>
        </p:txBody>
      </p:sp>
      <p:sp>
        <p:nvSpPr>
          <p:cNvPr id="10" name="Shape 7"/>
          <p:cNvSpPr/>
          <p:nvPr/>
        </p:nvSpPr>
        <p:spPr>
          <a:xfrm>
            <a:off x="548640" y="5257800"/>
            <a:ext cx="5852160" cy="822960"/>
          </a:xfrm>
          <a:prstGeom prst="roundRect">
            <a:avLst>
              <a:gd name="adj" fmla="val 8889"/>
            </a:avLst>
          </a:prstGeom>
          <a:solidFill>
            <a:srgbClr val="DDF0EE"/>
          </a:solidFill>
          <a:ln w="12700">
            <a:solidFill>
              <a:srgbClr val="DDF0EE"/>
            </a:solidFill>
            <a:prstDash val="solid"/>
          </a:ln>
        </p:spPr>
      </p:sp>
      <p:sp>
        <p:nvSpPr>
          <p:cNvPr id="11" name="Text 8"/>
          <p:cNvSpPr txBox="1"/>
          <p:nvPr/>
        </p:nvSpPr>
        <p:spPr>
          <a:xfrm>
            <a:off x="777240" y="5330952"/>
            <a:ext cx="5394960" cy="676656"/>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V1–V28 are anonymised PCA components supplied by the data provider.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Project Workflow</a:t>
            </a:r>
            <a:endParaRPr lang="en-US" sz="3200" dirty="0"/>
          </a:p>
        </p:txBody>
      </p:sp>
      <p:sp>
        <p:nvSpPr>
          <p:cNvPr id="3" name="Shape 1"/>
          <p:cNvSpPr/>
          <p:nvPr/>
        </p:nvSpPr>
        <p:spPr>
          <a:xfrm>
            <a:off x="548640" y="1508760"/>
            <a:ext cx="2560320" cy="1463040"/>
          </a:xfrm>
          <a:prstGeom prst="roundRect">
            <a:avLst>
              <a:gd name="adj" fmla="val 5000"/>
            </a:avLst>
          </a:prstGeom>
          <a:solidFill>
            <a:srgbClr val="EEF3F7"/>
          </a:solidFill>
          <a:ln w="12700">
            <a:solidFill>
              <a:srgbClr val="EEF3F7"/>
            </a:solidFill>
            <a:prstDash val="solid"/>
          </a:ln>
        </p:spPr>
      </p:sp>
      <p:sp>
        <p:nvSpPr>
          <p:cNvPr id="4"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777240" y="210312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Load &amp; explore</a:t>
            </a:r>
            <a:endParaRPr lang="en-US" sz="1600" dirty="0"/>
          </a:p>
        </p:txBody>
      </p:sp>
      <p:sp>
        <p:nvSpPr>
          <p:cNvPr id="6" name="Text 4"/>
          <p:cNvSpPr txBox="1"/>
          <p:nvPr/>
        </p:nvSpPr>
        <p:spPr>
          <a:xfrm>
            <a:off x="777240" y="248716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Section A · Archit</a:t>
            </a:r>
            <a:endParaRPr lang="en-US" sz="1300" dirty="0"/>
          </a:p>
        </p:txBody>
      </p:sp>
      <p:sp>
        <p:nvSpPr>
          <p:cNvPr id="7" name="Shape 5"/>
          <p:cNvSpPr/>
          <p:nvPr/>
        </p:nvSpPr>
        <p:spPr>
          <a:xfrm>
            <a:off x="3355848" y="1508760"/>
            <a:ext cx="2560320" cy="1463040"/>
          </a:xfrm>
          <a:prstGeom prst="roundRect">
            <a:avLst>
              <a:gd name="adj" fmla="val 5000"/>
            </a:avLst>
          </a:prstGeom>
          <a:solidFill>
            <a:srgbClr val="EEF3F7"/>
          </a:solidFill>
          <a:ln w="12700">
            <a:solidFill>
              <a:srgbClr val="EEF3F7"/>
            </a:solidFill>
            <a:prstDash val="solid"/>
          </a:ln>
        </p:spPr>
      </p:sp>
      <p:sp>
        <p:nvSpPr>
          <p:cNvPr id="8" name="Text 6"/>
          <p:cNvSpPr txBox="1"/>
          <p:nvPr/>
        </p:nvSpPr>
        <p:spPr>
          <a:xfrm>
            <a:off x="3584448" y="160020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3584448" y="210312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Clean &amp; split</a:t>
            </a:r>
            <a:endParaRPr lang="en-US" sz="1600" dirty="0"/>
          </a:p>
        </p:txBody>
      </p:sp>
      <p:sp>
        <p:nvSpPr>
          <p:cNvPr id="10" name="Text 8"/>
          <p:cNvSpPr txBox="1"/>
          <p:nvPr/>
        </p:nvSpPr>
        <p:spPr>
          <a:xfrm>
            <a:off x="3584448" y="248716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Section B · Phalak</a:t>
            </a:r>
            <a:endParaRPr lang="en-US" sz="1300" dirty="0"/>
          </a:p>
        </p:txBody>
      </p:sp>
      <p:sp>
        <p:nvSpPr>
          <p:cNvPr id="11" name="Shape 9"/>
          <p:cNvSpPr/>
          <p:nvPr/>
        </p:nvSpPr>
        <p:spPr>
          <a:xfrm>
            <a:off x="6163056" y="1508760"/>
            <a:ext cx="2560320" cy="1463040"/>
          </a:xfrm>
          <a:prstGeom prst="roundRect">
            <a:avLst>
              <a:gd name="adj" fmla="val 5000"/>
            </a:avLst>
          </a:prstGeom>
          <a:solidFill>
            <a:srgbClr val="EEF3F7"/>
          </a:solidFill>
          <a:ln w="12700">
            <a:solidFill>
              <a:srgbClr val="EEF3F7"/>
            </a:solidFill>
            <a:prstDash val="solid"/>
          </a:ln>
        </p:spPr>
      </p:sp>
      <p:sp>
        <p:nvSpPr>
          <p:cNvPr id="12" name="Text 10"/>
          <p:cNvSpPr txBox="1"/>
          <p:nvPr/>
        </p:nvSpPr>
        <p:spPr>
          <a:xfrm>
            <a:off x="6391656" y="160020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6391656" y="210312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Scale features</a:t>
            </a:r>
            <a:endParaRPr lang="en-US" sz="1600" dirty="0"/>
          </a:p>
        </p:txBody>
      </p:sp>
      <p:sp>
        <p:nvSpPr>
          <p:cNvPr id="14" name="Text 12"/>
          <p:cNvSpPr txBox="1"/>
          <p:nvPr/>
        </p:nvSpPr>
        <p:spPr>
          <a:xfrm>
            <a:off x="6391656" y="248716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Legitimate fit rows only</a:t>
            </a:r>
            <a:endParaRPr lang="en-US" sz="1300" dirty="0"/>
          </a:p>
        </p:txBody>
      </p:sp>
      <p:sp>
        <p:nvSpPr>
          <p:cNvPr id="15" name="Shape 13"/>
          <p:cNvSpPr/>
          <p:nvPr/>
        </p:nvSpPr>
        <p:spPr>
          <a:xfrm>
            <a:off x="8970264" y="1508760"/>
            <a:ext cx="2560320" cy="1463040"/>
          </a:xfrm>
          <a:prstGeom prst="roundRect">
            <a:avLst>
              <a:gd name="adj" fmla="val 5000"/>
            </a:avLst>
          </a:prstGeom>
          <a:solidFill>
            <a:srgbClr val="EEF3F7"/>
          </a:solidFill>
          <a:ln w="12700">
            <a:solidFill>
              <a:srgbClr val="EEF3F7"/>
            </a:solidFill>
            <a:prstDash val="solid"/>
          </a:ln>
        </p:spPr>
      </p:sp>
      <p:sp>
        <p:nvSpPr>
          <p:cNvPr id="16" name="Text 14"/>
          <p:cNvSpPr txBox="1"/>
          <p:nvPr/>
        </p:nvSpPr>
        <p:spPr>
          <a:xfrm>
            <a:off x="9198864" y="160020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9198864" y="210312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GMM + BIC</a:t>
            </a:r>
            <a:endParaRPr lang="en-US" sz="1600" dirty="0"/>
          </a:p>
        </p:txBody>
      </p:sp>
      <p:sp>
        <p:nvSpPr>
          <p:cNvPr id="18" name="Text 16"/>
          <p:cNvSpPr txBox="1"/>
          <p:nvPr/>
        </p:nvSpPr>
        <p:spPr>
          <a:xfrm>
            <a:off x="9198864" y="248716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Section C · Yash</a:t>
            </a:r>
            <a:endParaRPr lang="en-US" sz="1300" dirty="0"/>
          </a:p>
        </p:txBody>
      </p:sp>
      <p:sp>
        <p:nvSpPr>
          <p:cNvPr id="19" name="Shape 17"/>
          <p:cNvSpPr/>
          <p:nvPr/>
        </p:nvSpPr>
        <p:spPr>
          <a:xfrm>
            <a:off x="548640" y="3200400"/>
            <a:ext cx="2560320" cy="1463040"/>
          </a:xfrm>
          <a:prstGeom prst="roundRect">
            <a:avLst>
              <a:gd name="adj" fmla="val 5000"/>
            </a:avLst>
          </a:prstGeom>
          <a:solidFill>
            <a:srgbClr val="EEF3F7"/>
          </a:solidFill>
          <a:ln w="12700">
            <a:solidFill>
              <a:srgbClr val="EEF3F7"/>
            </a:solidFill>
            <a:prstDash val="solid"/>
          </a:ln>
        </p:spPr>
      </p:sp>
      <p:sp>
        <p:nvSpPr>
          <p:cNvPr id="20" name="Text 18"/>
          <p:cNvSpPr txBox="1"/>
          <p:nvPr/>
        </p:nvSpPr>
        <p:spPr>
          <a:xfrm>
            <a:off x="777240" y="329184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5</a:t>
            </a:r>
            <a:endParaRPr lang="en-US" sz="2400" dirty="0"/>
          </a:p>
        </p:txBody>
      </p:sp>
      <p:sp>
        <p:nvSpPr>
          <p:cNvPr id="21" name="Text 19"/>
          <p:cNvSpPr txBox="1"/>
          <p:nvPr/>
        </p:nvSpPr>
        <p:spPr>
          <a:xfrm>
            <a:off x="777240" y="379476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Autoencoder</a:t>
            </a:r>
            <a:endParaRPr lang="en-US" sz="1600" dirty="0"/>
          </a:p>
        </p:txBody>
      </p:sp>
      <p:sp>
        <p:nvSpPr>
          <p:cNvPr id="22" name="Text 20"/>
          <p:cNvSpPr txBox="1"/>
          <p:nvPr/>
        </p:nvSpPr>
        <p:spPr>
          <a:xfrm>
            <a:off x="777240" y="417880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Section D · Ram</a:t>
            </a:r>
            <a:endParaRPr lang="en-US" sz="1300" dirty="0"/>
          </a:p>
        </p:txBody>
      </p:sp>
      <p:sp>
        <p:nvSpPr>
          <p:cNvPr id="23" name="Shape 21"/>
          <p:cNvSpPr/>
          <p:nvPr/>
        </p:nvSpPr>
        <p:spPr>
          <a:xfrm>
            <a:off x="3355848" y="3200400"/>
            <a:ext cx="2560320" cy="1463040"/>
          </a:xfrm>
          <a:prstGeom prst="roundRect">
            <a:avLst>
              <a:gd name="adj" fmla="val 5000"/>
            </a:avLst>
          </a:prstGeom>
          <a:solidFill>
            <a:srgbClr val="EEF3F7"/>
          </a:solidFill>
          <a:ln w="12700">
            <a:solidFill>
              <a:srgbClr val="EEF3F7"/>
            </a:solidFill>
            <a:prstDash val="solid"/>
          </a:ln>
        </p:spPr>
      </p:sp>
      <p:sp>
        <p:nvSpPr>
          <p:cNvPr id="24" name="Text 22"/>
          <p:cNvSpPr txBox="1"/>
          <p:nvPr/>
        </p:nvSpPr>
        <p:spPr>
          <a:xfrm>
            <a:off x="3584448" y="329184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6</a:t>
            </a:r>
            <a:endParaRPr lang="en-US" sz="2400" dirty="0"/>
          </a:p>
        </p:txBody>
      </p:sp>
      <p:sp>
        <p:nvSpPr>
          <p:cNvPr id="25" name="Text 23"/>
          <p:cNvSpPr txBox="1"/>
          <p:nvPr/>
        </p:nvSpPr>
        <p:spPr>
          <a:xfrm>
            <a:off x="3584448" y="379476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Thresholds</a:t>
            </a:r>
            <a:endParaRPr lang="en-US" sz="1600" dirty="0"/>
          </a:p>
        </p:txBody>
      </p:sp>
      <p:sp>
        <p:nvSpPr>
          <p:cNvPr id="26" name="Text 24"/>
          <p:cNvSpPr txBox="1"/>
          <p:nvPr/>
        </p:nvSpPr>
        <p:spPr>
          <a:xfrm>
            <a:off x="3584448" y="417880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Section E · Yash</a:t>
            </a:r>
            <a:endParaRPr lang="en-US" sz="1300" dirty="0"/>
          </a:p>
        </p:txBody>
      </p:sp>
      <p:sp>
        <p:nvSpPr>
          <p:cNvPr id="27" name="Shape 25"/>
          <p:cNvSpPr/>
          <p:nvPr/>
        </p:nvSpPr>
        <p:spPr>
          <a:xfrm>
            <a:off x="6163056" y="3200400"/>
            <a:ext cx="2560320" cy="1463040"/>
          </a:xfrm>
          <a:prstGeom prst="roundRect">
            <a:avLst>
              <a:gd name="adj" fmla="val 5000"/>
            </a:avLst>
          </a:prstGeom>
          <a:solidFill>
            <a:srgbClr val="0B2545"/>
          </a:solidFill>
          <a:ln w="12700">
            <a:solidFill>
              <a:srgbClr val="0B2545"/>
            </a:solidFill>
            <a:prstDash val="solid"/>
          </a:ln>
        </p:spPr>
      </p:sp>
      <p:sp>
        <p:nvSpPr>
          <p:cNvPr id="28" name="Text 26"/>
          <p:cNvSpPr txBox="1"/>
          <p:nvPr/>
        </p:nvSpPr>
        <p:spPr>
          <a:xfrm>
            <a:off x="6391656" y="3291840"/>
            <a:ext cx="914400" cy="457200"/>
          </a:xfrm>
          <a:prstGeom prst="rect">
            <a:avLst/>
          </a:prstGeom>
          <a:noFill/>
          <a:ln/>
        </p:spPr>
        <p:txBody>
          <a:bodyPr wrap="square" lIns="0" tIns="0" rIns="0" bIns="0" rtlCol="0" anchor="ctr"/>
          <a:lstStyle/>
          <a:p>
            <a:pPr indent="0" marL="0">
              <a:buNone/>
            </a:pPr>
            <a:r>
              <a:rPr lang="en-US" sz="2400" b="1" dirty="0">
                <a:solidFill>
                  <a:srgbClr val="F0A03C"/>
                </a:solidFill>
                <a:latin typeface="Cambria" pitchFamily="34" charset="0"/>
                <a:ea typeface="Cambria" pitchFamily="34" charset="-122"/>
                <a:cs typeface="Cambria" pitchFamily="34" charset="-120"/>
              </a:rPr>
              <a:t>7</a:t>
            </a:r>
            <a:endParaRPr lang="en-US" sz="2400" dirty="0"/>
          </a:p>
        </p:txBody>
      </p:sp>
      <p:sp>
        <p:nvSpPr>
          <p:cNvPr id="29" name="Text 27"/>
          <p:cNvSpPr txBox="1"/>
          <p:nvPr/>
        </p:nvSpPr>
        <p:spPr>
          <a:xfrm>
            <a:off x="6391656" y="3794760"/>
            <a:ext cx="2148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Test once</a:t>
            </a:r>
            <a:endParaRPr lang="en-US" sz="1600" dirty="0"/>
          </a:p>
        </p:txBody>
      </p:sp>
      <p:sp>
        <p:nvSpPr>
          <p:cNvPr id="30" name="Text 28"/>
          <p:cNvSpPr txBox="1"/>
          <p:nvPr/>
        </p:nvSpPr>
        <p:spPr>
          <a:xfrm>
            <a:off x="6391656" y="4178808"/>
            <a:ext cx="2148840" cy="365760"/>
          </a:xfrm>
          <a:prstGeom prst="rect">
            <a:avLst/>
          </a:prstGeom>
          <a:noFill/>
          <a:ln/>
        </p:spPr>
        <p:txBody>
          <a:bodyPr wrap="square" lIns="0" tIns="0" rIns="0" bIns="0" rtlCol="0" anchor="ctr"/>
          <a:lstStyle/>
          <a:p>
            <a:pPr indent="0" marL="0">
              <a:buNone/>
            </a:pPr>
            <a:r>
              <a:rPr lang="en-US" sz="1300" dirty="0">
                <a:solidFill>
                  <a:srgbClr val="CFE3F1"/>
                </a:solidFill>
                <a:latin typeface="Calibri" pitchFamily="34" charset="0"/>
                <a:ea typeface="Calibri" pitchFamily="34" charset="-122"/>
                <a:cs typeface="Calibri" pitchFamily="34" charset="-120"/>
              </a:rPr>
              <a:t>Section F · Ram</a:t>
            </a:r>
            <a:endParaRPr lang="en-US" sz="1300" dirty="0"/>
          </a:p>
        </p:txBody>
      </p:sp>
      <p:sp>
        <p:nvSpPr>
          <p:cNvPr id="31" name="Shape 29"/>
          <p:cNvSpPr/>
          <p:nvPr/>
        </p:nvSpPr>
        <p:spPr>
          <a:xfrm>
            <a:off x="8970264" y="3200400"/>
            <a:ext cx="2560320" cy="1463040"/>
          </a:xfrm>
          <a:prstGeom prst="roundRect">
            <a:avLst>
              <a:gd name="adj" fmla="val 5000"/>
            </a:avLst>
          </a:prstGeom>
          <a:solidFill>
            <a:srgbClr val="EEF3F7"/>
          </a:solidFill>
          <a:ln w="12700">
            <a:solidFill>
              <a:srgbClr val="EEF3F7"/>
            </a:solidFill>
            <a:prstDash val="solid"/>
          </a:ln>
        </p:spPr>
      </p:sp>
      <p:sp>
        <p:nvSpPr>
          <p:cNvPr id="32" name="Text 30"/>
          <p:cNvSpPr txBox="1"/>
          <p:nvPr/>
        </p:nvSpPr>
        <p:spPr>
          <a:xfrm>
            <a:off x="9198864" y="3291840"/>
            <a:ext cx="91440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8</a:t>
            </a:r>
            <a:endParaRPr lang="en-US" sz="2400" dirty="0"/>
          </a:p>
        </p:txBody>
      </p:sp>
      <p:sp>
        <p:nvSpPr>
          <p:cNvPr id="33" name="Text 31"/>
          <p:cNvSpPr txBox="1"/>
          <p:nvPr/>
        </p:nvSpPr>
        <p:spPr>
          <a:xfrm>
            <a:off x="9198864" y="3794760"/>
            <a:ext cx="21488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Plots &amp; conclusion</a:t>
            </a:r>
            <a:endParaRPr lang="en-US" sz="1600" dirty="0"/>
          </a:p>
        </p:txBody>
      </p:sp>
      <p:sp>
        <p:nvSpPr>
          <p:cNvPr id="34" name="Text 32"/>
          <p:cNvSpPr txBox="1"/>
          <p:nvPr/>
        </p:nvSpPr>
        <p:spPr>
          <a:xfrm>
            <a:off x="9198864" y="4178808"/>
            <a:ext cx="2148840" cy="365760"/>
          </a:xfrm>
          <a:prstGeom prst="rect">
            <a:avLst/>
          </a:prstGeom>
          <a:noFill/>
          <a:ln/>
        </p:spPr>
        <p:txBody>
          <a:bodyPr wrap="square" lIns="0" tIns="0" rIns="0" bIns="0" rtlCol="0" anchor="ctr"/>
          <a:lstStyle/>
          <a:p>
            <a:pPr indent="0" marL="0">
              <a:buNone/>
            </a:pPr>
            <a:r>
              <a:rPr lang="en-US" sz="1300" dirty="0">
                <a:solidFill>
                  <a:srgbClr val="5B6B7F"/>
                </a:solidFill>
                <a:latin typeface="Calibri" pitchFamily="34" charset="0"/>
                <a:ea typeface="Calibri" pitchFamily="34" charset="-122"/>
                <a:cs typeface="Calibri" pitchFamily="34" charset="-120"/>
              </a:rPr>
              <a:t>Sections G–H · Preet</a:t>
            </a:r>
            <a:endParaRPr lang="en-US" sz="1300" dirty="0"/>
          </a:p>
        </p:txBody>
      </p:sp>
      <p:sp>
        <p:nvSpPr>
          <p:cNvPr id="35" name="Shape 33"/>
          <p:cNvSpPr/>
          <p:nvPr/>
        </p:nvSpPr>
        <p:spPr>
          <a:xfrm>
            <a:off x="548640" y="5029200"/>
            <a:ext cx="5440680" cy="1051560"/>
          </a:xfrm>
          <a:prstGeom prst="roundRect">
            <a:avLst>
              <a:gd name="adj" fmla="val 6957"/>
            </a:avLst>
          </a:prstGeom>
          <a:solidFill>
            <a:srgbClr val="DDF0EE"/>
          </a:solidFill>
          <a:ln w="12700">
            <a:solidFill>
              <a:srgbClr val="DDF0EE"/>
            </a:solidFill>
            <a:prstDash val="solid"/>
          </a:ln>
        </p:spPr>
      </p:sp>
      <p:sp>
        <p:nvSpPr>
          <p:cNvPr id="36" name="Text 34"/>
          <p:cNvSpPr txBox="1"/>
          <p:nvPr/>
        </p:nvSpPr>
        <p:spPr>
          <a:xfrm>
            <a:off x="777240" y="5138928"/>
            <a:ext cx="498348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Done</a:t>
            </a:r>
            <a:endParaRPr lang="en-US" sz="1800" dirty="0"/>
          </a:p>
        </p:txBody>
      </p:sp>
      <p:sp>
        <p:nvSpPr>
          <p:cNvPr id="37" name="Text 35"/>
          <p:cNvSpPr txBox="1"/>
          <p:nvPr/>
        </p:nvSpPr>
        <p:spPr>
          <a:xfrm>
            <a:off x="777240" y="5532120"/>
            <a:ext cx="4983480" cy="4572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Both models, 4 autoencoder configurations, validation thresholds, one test evaluation, missed-fraud check.</a:t>
            </a:r>
            <a:endParaRPr lang="en-US" sz="1400" dirty="0"/>
          </a:p>
        </p:txBody>
      </p:sp>
      <p:sp>
        <p:nvSpPr>
          <p:cNvPr id="38" name="Shape 36"/>
          <p:cNvSpPr/>
          <p:nvPr/>
        </p:nvSpPr>
        <p:spPr>
          <a:xfrm>
            <a:off x="6199632" y="5029200"/>
            <a:ext cx="5440680" cy="1051560"/>
          </a:xfrm>
          <a:prstGeom prst="roundRect">
            <a:avLst>
              <a:gd name="adj" fmla="val 6957"/>
            </a:avLst>
          </a:prstGeom>
          <a:solidFill>
            <a:srgbClr val="FBE9D0"/>
          </a:solidFill>
          <a:ln w="12700">
            <a:solidFill>
              <a:srgbClr val="FBE9D0"/>
            </a:solidFill>
            <a:prstDash val="solid"/>
          </a:ln>
        </p:spPr>
      </p:sp>
      <p:sp>
        <p:nvSpPr>
          <p:cNvPr id="39" name="Text 37"/>
          <p:cNvSpPr txBox="1"/>
          <p:nvPr/>
        </p:nvSpPr>
        <p:spPr>
          <a:xfrm>
            <a:off x="6428232" y="5138928"/>
            <a:ext cx="498348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Not built (future work)</a:t>
            </a:r>
            <a:endParaRPr lang="en-US" sz="1800" dirty="0"/>
          </a:p>
        </p:txBody>
      </p:sp>
      <p:sp>
        <p:nvSpPr>
          <p:cNvPr id="40" name="Text 38"/>
          <p:cNvSpPr txBox="1"/>
          <p:nvPr/>
        </p:nvSpPr>
        <p:spPr>
          <a:xfrm>
            <a:off x="6428232" y="5532120"/>
            <a:ext cx="4983480" cy="4572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Chronological split, repeated seeds, other baselines.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Data Preparation and Split</a:t>
            </a:r>
            <a:endParaRPr lang="en-US" sz="3200" dirty="0"/>
          </a:p>
        </p:txBody>
      </p:sp>
      <p:sp>
        <p:nvSpPr>
          <p:cNvPr id="4" name="Shape 1"/>
          <p:cNvSpPr/>
          <p:nvPr/>
        </p:nvSpPr>
        <p:spPr>
          <a:xfrm>
            <a:off x="548640" y="1463040"/>
            <a:ext cx="2560320" cy="1234440"/>
          </a:xfrm>
          <a:prstGeom prst="roundRect">
            <a:avLst>
              <a:gd name="adj" fmla="val 5926"/>
            </a:avLst>
          </a:prstGeom>
          <a:solidFill>
            <a:srgbClr val="EEF3F7"/>
          </a:solidFill>
          <a:ln w="12700">
            <a:solidFill>
              <a:srgbClr val="EEF3F7"/>
            </a:solidFill>
            <a:prstDash val="solid"/>
          </a:ln>
        </p:spPr>
      </p:sp>
      <p:sp>
        <p:nvSpPr>
          <p:cNvPr id="5" name="Text 2"/>
          <p:cNvSpPr txBox="1"/>
          <p:nvPr/>
        </p:nvSpPr>
        <p:spPr>
          <a:xfrm>
            <a:off x="777240" y="1572768"/>
            <a:ext cx="2103120" cy="617220"/>
          </a:xfrm>
          <a:prstGeom prst="rect">
            <a:avLst/>
          </a:prstGeom>
          <a:noFill/>
          <a:ln/>
        </p:spPr>
        <p:txBody>
          <a:bodyPr wrap="square" lIns="0" tIns="0" rIns="0" bIns="0" rtlCol="0" anchor="ctr"/>
          <a:lstStyle/>
          <a:p>
            <a:pPr indent="0" marL="0">
              <a:buNone/>
            </a:pPr>
            <a:r>
              <a:rPr lang="en-US" sz="2600" b="1" dirty="0">
                <a:solidFill>
                  <a:srgbClr val="138D7E"/>
                </a:solidFill>
                <a:latin typeface="Cambria" pitchFamily="34" charset="0"/>
                <a:ea typeface="Cambria" pitchFamily="34" charset="-122"/>
                <a:cs typeface="Cambria" pitchFamily="34" charset="-120"/>
              </a:rPr>
              <a:t>1,081</a:t>
            </a:r>
            <a:endParaRPr lang="en-US" sz="2600" dirty="0"/>
          </a:p>
        </p:txBody>
      </p:sp>
      <p:sp>
        <p:nvSpPr>
          <p:cNvPr id="6" name="Text 3"/>
          <p:cNvSpPr txBox="1"/>
          <p:nvPr/>
        </p:nvSpPr>
        <p:spPr>
          <a:xfrm>
            <a:off x="777240" y="2141982"/>
            <a:ext cx="2103120" cy="493776"/>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duplicate rows dropped before splitting</a:t>
            </a:r>
            <a:endParaRPr lang="en-US" sz="1300" dirty="0"/>
          </a:p>
        </p:txBody>
      </p:sp>
      <p:sp>
        <p:nvSpPr>
          <p:cNvPr id="7" name="Shape 4"/>
          <p:cNvSpPr/>
          <p:nvPr/>
        </p:nvSpPr>
        <p:spPr>
          <a:xfrm>
            <a:off x="3355848" y="1463040"/>
            <a:ext cx="2560320" cy="1234440"/>
          </a:xfrm>
          <a:prstGeom prst="roundRect">
            <a:avLst>
              <a:gd name="adj" fmla="val 5926"/>
            </a:avLst>
          </a:prstGeom>
          <a:solidFill>
            <a:srgbClr val="EEF3F7"/>
          </a:solidFill>
          <a:ln w="12700">
            <a:solidFill>
              <a:srgbClr val="EEF3F7"/>
            </a:solidFill>
            <a:prstDash val="solid"/>
          </a:ln>
        </p:spPr>
      </p:sp>
      <p:sp>
        <p:nvSpPr>
          <p:cNvPr id="8" name="Text 5"/>
          <p:cNvSpPr txBox="1"/>
          <p:nvPr/>
        </p:nvSpPr>
        <p:spPr>
          <a:xfrm>
            <a:off x="3584448" y="1572768"/>
            <a:ext cx="2103120" cy="617220"/>
          </a:xfrm>
          <a:prstGeom prst="rect">
            <a:avLst/>
          </a:prstGeom>
          <a:noFill/>
          <a:ln/>
        </p:spPr>
        <p:txBody>
          <a:bodyPr wrap="square" lIns="0" tIns="0" rIns="0" bIns="0" rtlCol="0" anchor="ctr"/>
          <a:lstStyle/>
          <a:p>
            <a:pPr indent="0" marL="0">
              <a:buNone/>
            </a:pPr>
            <a:r>
              <a:rPr lang="en-US" sz="2600" b="1" dirty="0">
                <a:solidFill>
                  <a:srgbClr val="138D7E"/>
                </a:solidFill>
                <a:latin typeface="Cambria" pitchFamily="34" charset="0"/>
                <a:ea typeface="Cambria" pitchFamily="34" charset="-122"/>
                <a:cs typeface="Cambria" pitchFamily="34" charset="-120"/>
              </a:rPr>
              <a:t>Time</a:t>
            </a:r>
            <a:endParaRPr lang="en-US" sz="2600" dirty="0"/>
          </a:p>
        </p:txBody>
      </p:sp>
      <p:sp>
        <p:nvSpPr>
          <p:cNvPr id="9" name="Text 6"/>
          <p:cNvSpPr txBox="1"/>
          <p:nvPr/>
        </p:nvSpPr>
        <p:spPr>
          <a:xfrm>
            <a:off x="3584448" y="2141982"/>
            <a:ext cx="2103120" cy="493776"/>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dropped: seconds since recording start</a:t>
            </a:r>
            <a:endParaRPr lang="en-US" sz="1300" dirty="0"/>
          </a:p>
        </p:txBody>
      </p:sp>
      <p:sp>
        <p:nvSpPr>
          <p:cNvPr id="10" name="Shape 7"/>
          <p:cNvSpPr/>
          <p:nvPr/>
        </p:nvSpPr>
        <p:spPr>
          <a:xfrm>
            <a:off x="6163056" y="1463040"/>
            <a:ext cx="2560320" cy="1234440"/>
          </a:xfrm>
          <a:prstGeom prst="roundRect">
            <a:avLst>
              <a:gd name="adj" fmla="val 5926"/>
            </a:avLst>
          </a:prstGeom>
          <a:solidFill>
            <a:srgbClr val="EEF3F7"/>
          </a:solidFill>
          <a:ln w="12700">
            <a:solidFill>
              <a:srgbClr val="EEF3F7"/>
            </a:solidFill>
            <a:prstDash val="solid"/>
          </a:ln>
        </p:spPr>
      </p:sp>
      <p:sp>
        <p:nvSpPr>
          <p:cNvPr id="11" name="Text 8"/>
          <p:cNvSpPr txBox="1"/>
          <p:nvPr/>
        </p:nvSpPr>
        <p:spPr>
          <a:xfrm>
            <a:off x="6391656" y="1572768"/>
            <a:ext cx="2103120" cy="617220"/>
          </a:xfrm>
          <a:prstGeom prst="rect">
            <a:avLst/>
          </a:prstGeom>
          <a:noFill/>
          <a:ln/>
        </p:spPr>
        <p:txBody>
          <a:bodyPr wrap="square" lIns="0" tIns="0" rIns="0" bIns="0" rtlCol="0" anchor="ctr"/>
          <a:lstStyle/>
          <a:p>
            <a:pPr indent="0" marL="0">
              <a:buNone/>
            </a:pPr>
            <a:r>
              <a:rPr lang="en-US" sz="2600" b="1" dirty="0">
                <a:solidFill>
                  <a:srgbClr val="138D7E"/>
                </a:solidFill>
                <a:latin typeface="Cambria" pitchFamily="34" charset="0"/>
                <a:ea typeface="Cambria" pitchFamily="34" charset="-122"/>
                <a:cs typeface="Cambria" pitchFamily="34" charset="-120"/>
              </a:rPr>
              <a:t>log1p</a:t>
            </a:r>
            <a:endParaRPr lang="en-US" sz="2600" dirty="0"/>
          </a:p>
        </p:txBody>
      </p:sp>
      <p:sp>
        <p:nvSpPr>
          <p:cNvPr id="12" name="Text 9"/>
          <p:cNvSpPr txBox="1"/>
          <p:nvPr/>
        </p:nvSpPr>
        <p:spPr>
          <a:xfrm>
            <a:off x="6391656" y="2141982"/>
            <a:ext cx="2103120" cy="493776"/>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applied to Amount (skewed values)</a:t>
            </a:r>
            <a:endParaRPr lang="en-US" sz="1300" dirty="0"/>
          </a:p>
        </p:txBody>
      </p:sp>
      <p:sp>
        <p:nvSpPr>
          <p:cNvPr id="13" name="Shape 10"/>
          <p:cNvSpPr/>
          <p:nvPr/>
        </p:nvSpPr>
        <p:spPr>
          <a:xfrm>
            <a:off x="8970264" y="1463040"/>
            <a:ext cx="2560320" cy="1234440"/>
          </a:xfrm>
          <a:prstGeom prst="roundRect">
            <a:avLst>
              <a:gd name="adj" fmla="val 5926"/>
            </a:avLst>
          </a:prstGeom>
          <a:solidFill>
            <a:srgbClr val="EEF3F7"/>
          </a:solidFill>
          <a:ln w="12700">
            <a:solidFill>
              <a:srgbClr val="EEF3F7"/>
            </a:solidFill>
            <a:prstDash val="solid"/>
          </a:ln>
        </p:spPr>
      </p:sp>
      <p:sp>
        <p:nvSpPr>
          <p:cNvPr id="14" name="Text 11"/>
          <p:cNvSpPr txBox="1"/>
          <p:nvPr/>
        </p:nvSpPr>
        <p:spPr>
          <a:xfrm>
            <a:off x="9198864" y="1572768"/>
            <a:ext cx="2103120" cy="617220"/>
          </a:xfrm>
          <a:prstGeom prst="rect">
            <a:avLst/>
          </a:prstGeom>
          <a:noFill/>
          <a:ln/>
        </p:spPr>
        <p:txBody>
          <a:bodyPr wrap="square" lIns="0" tIns="0" rIns="0" bIns="0" rtlCol="0" anchor="ctr"/>
          <a:lstStyle/>
          <a:p>
            <a:pPr indent="0" marL="0">
              <a:buNone/>
            </a:pPr>
            <a:r>
              <a:rPr lang="en-US" sz="2600" b="1" dirty="0">
                <a:solidFill>
                  <a:srgbClr val="138D7E"/>
                </a:solidFill>
                <a:latin typeface="Cambria" pitchFamily="34" charset="0"/>
                <a:ea typeface="Cambria" pitchFamily="34" charset="-122"/>
                <a:cs typeface="Cambria" pitchFamily="34" charset="-120"/>
              </a:rPr>
              <a:t>Scaler</a:t>
            </a:r>
            <a:endParaRPr lang="en-US" sz="2600" dirty="0"/>
          </a:p>
        </p:txBody>
      </p:sp>
      <p:sp>
        <p:nvSpPr>
          <p:cNvPr id="15" name="Text 12"/>
          <p:cNvSpPr txBox="1"/>
          <p:nvPr/>
        </p:nvSpPr>
        <p:spPr>
          <a:xfrm>
            <a:off x="9198864" y="2141982"/>
            <a:ext cx="2103120" cy="493776"/>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StandardScaler fitted on fit rows only</a:t>
            </a:r>
            <a:endParaRPr lang="en-US" sz="1300" dirty="0"/>
          </a:p>
        </p:txBody>
      </p:sp>
      <p:sp>
        <p:nvSpPr>
          <p:cNvPr id="16" name="Shape 13"/>
          <p:cNvSpPr/>
          <p:nvPr/>
        </p:nvSpPr>
        <p:spPr>
          <a:xfrm>
            <a:off x="548640" y="2926080"/>
            <a:ext cx="5985446" cy="548640"/>
          </a:xfrm>
          <a:prstGeom prst="rect">
            <a:avLst/>
          </a:prstGeom>
          <a:solidFill>
            <a:srgbClr val="138D7E"/>
          </a:solidFill>
          <a:ln w="12700">
            <a:solidFill>
              <a:srgbClr val="FFFFFF"/>
            </a:solidFill>
            <a:prstDash val="solid"/>
          </a:ln>
        </p:spPr>
      </p:sp>
      <p:sp>
        <p:nvSpPr>
          <p:cNvPr id="17" name="Text 14"/>
          <p:cNvSpPr txBox="1"/>
          <p:nvPr/>
        </p:nvSpPr>
        <p:spPr>
          <a:xfrm>
            <a:off x="548640" y="2926080"/>
            <a:ext cx="5985446"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fit</a:t>
            </a:r>
            <a:endParaRPr lang="en-US" sz="1400" dirty="0"/>
          </a:p>
        </p:txBody>
      </p:sp>
      <p:sp>
        <p:nvSpPr>
          <p:cNvPr id="18" name="Shape 15"/>
          <p:cNvSpPr/>
          <p:nvPr/>
        </p:nvSpPr>
        <p:spPr>
          <a:xfrm>
            <a:off x="6534086" y="2926080"/>
            <a:ext cx="665089" cy="548640"/>
          </a:xfrm>
          <a:prstGeom prst="rect">
            <a:avLst/>
          </a:prstGeom>
          <a:solidFill>
            <a:srgbClr val="F0A03C"/>
          </a:solidFill>
          <a:ln w="12700">
            <a:solidFill>
              <a:srgbClr val="FFFFFF"/>
            </a:solidFill>
            <a:prstDash val="solid"/>
          </a:ln>
        </p:spPr>
      </p:sp>
      <p:sp>
        <p:nvSpPr>
          <p:cNvPr id="19" name="Text 16"/>
          <p:cNvSpPr txBox="1"/>
          <p:nvPr/>
        </p:nvSpPr>
        <p:spPr>
          <a:xfrm>
            <a:off x="6534086" y="2926080"/>
            <a:ext cx="665089" cy="548640"/>
          </a:xfrm>
          <a:prstGeom prst="rect">
            <a:avLst/>
          </a:prstGeom>
          <a:noFill/>
          <a:ln/>
        </p:spPr>
        <p:txBody>
          <a:bodyPr wrap="square" lIns="0" tIns="0" rIns="0" bIns="0" rtlCol="0" anchor="ctr"/>
          <a:lstStyle/>
          <a:p>
            <a:pPr algn="ctr" indent="0" marL="0">
              <a:buNone/>
            </a:pPr>
            <a:r>
              <a:rPr lang="en-US" sz="1400" b="1" dirty="0">
                <a:solidFill>
                  <a:srgbClr val="1B2B3A"/>
                </a:solidFill>
                <a:latin typeface="Calibri" pitchFamily="34" charset="0"/>
                <a:ea typeface="Calibri" pitchFamily="34" charset="-122"/>
                <a:cs typeface="Calibri" pitchFamily="34" charset="-120"/>
              </a:rPr>
              <a:t>es</a:t>
            </a:r>
            <a:endParaRPr lang="en-US" sz="1400" dirty="0"/>
          </a:p>
        </p:txBody>
      </p:sp>
      <p:sp>
        <p:nvSpPr>
          <p:cNvPr id="20" name="Shape 17"/>
          <p:cNvSpPr/>
          <p:nvPr/>
        </p:nvSpPr>
        <p:spPr>
          <a:xfrm>
            <a:off x="7199174" y="2926080"/>
            <a:ext cx="2220549" cy="548640"/>
          </a:xfrm>
          <a:prstGeom prst="rect">
            <a:avLst/>
          </a:prstGeom>
          <a:solidFill>
            <a:srgbClr val="9FD8D0"/>
          </a:solidFill>
          <a:ln w="12700">
            <a:solidFill>
              <a:srgbClr val="FFFFFF"/>
            </a:solidFill>
            <a:prstDash val="solid"/>
          </a:ln>
        </p:spPr>
      </p:sp>
      <p:sp>
        <p:nvSpPr>
          <p:cNvPr id="21" name="Text 18"/>
          <p:cNvSpPr txBox="1"/>
          <p:nvPr/>
        </p:nvSpPr>
        <p:spPr>
          <a:xfrm>
            <a:off x="7199174" y="2926080"/>
            <a:ext cx="2220549" cy="548640"/>
          </a:xfrm>
          <a:prstGeom prst="rect">
            <a:avLst/>
          </a:prstGeom>
          <a:noFill/>
          <a:ln/>
        </p:spPr>
        <p:txBody>
          <a:bodyPr wrap="square" lIns="0" tIns="0" rIns="0" bIns="0" rtlCol="0" anchor="ctr"/>
          <a:lstStyle/>
          <a:p>
            <a:pPr algn="ctr" indent="0" marL="0">
              <a:buNone/>
            </a:pPr>
            <a:r>
              <a:rPr lang="en-US" sz="1400" b="1" dirty="0">
                <a:solidFill>
                  <a:srgbClr val="1B2B3A"/>
                </a:solidFill>
                <a:latin typeface="Calibri" pitchFamily="34" charset="0"/>
                <a:ea typeface="Calibri" pitchFamily="34" charset="-122"/>
                <a:cs typeface="Calibri" pitchFamily="34" charset="-120"/>
              </a:rPr>
              <a:t>val</a:t>
            </a:r>
            <a:endParaRPr lang="en-US" sz="1400" dirty="0"/>
          </a:p>
        </p:txBody>
      </p:sp>
      <p:sp>
        <p:nvSpPr>
          <p:cNvPr id="22" name="Shape 19"/>
          <p:cNvSpPr/>
          <p:nvPr/>
        </p:nvSpPr>
        <p:spPr>
          <a:xfrm>
            <a:off x="9419724" y="2926080"/>
            <a:ext cx="2220588" cy="548640"/>
          </a:xfrm>
          <a:prstGeom prst="rect">
            <a:avLst/>
          </a:prstGeom>
          <a:solidFill>
            <a:srgbClr val="0B2545"/>
          </a:solidFill>
          <a:ln w="12700">
            <a:solidFill>
              <a:srgbClr val="FFFFFF"/>
            </a:solidFill>
            <a:prstDash val="solid"/>
          </a:ln>
        </p:spPr>
      </p:sp>
      <p:sp>
        <p:nvSpPr>
          <p:cNvPr id="23" name="Text 20"/>
          <p:cNvSpPr txBox="1"/>
          <p:nvPr/>
        </p:nvSpPr>
        <p:spPr>
          <a:xfrm>
            <a:off x="9419724" y="2926080"/>
            <a:ext cx="222058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91672" cy="914400"/>
        </p:xfrm>
        <a:graphic>
          <a:graphicData uri="http://schemas.openxmlformats.org/drawingml/2006/table">
            <a:tbl>
              <a:tblPr/>
              <a:tblGrid>
                <a:gridCol w="1097280"/>
                <a:gridCol w="3474720"/>
                <a:gridCol w="2926080"/>
                <a:gridCol w="359359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Split</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Contents</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Size</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Used for</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fit</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Legitimate training (90%)</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152,955 · 0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Scaler, GMM, AE weights</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Legitimate training (10%)</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16,996 · 0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AE early stopping only</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val</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Legit +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56,745 · 94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AE choice and thresholds</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Legit +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56,746 · 95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Final measurement, once</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548640" y="5715000"/>
            <a:ext cx="10241280" cy="365760"/>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Stratified 60/20/20 random split; 284 fraud rows in the training part are discarded. Class is never a model input.</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Gaussian Mixture Model</a:t>
            </a:r>
            <a:endParaRPr lang="en-US" sz="3200" dirty="0"/>
          </a:p>
        </p:txBody>
      </p:sp>
      <p:sp>
        <p:nvSpPr>
          <p:cNvPr id="4" name="Shape 1"/>
          <p:cNvSpPr/>
          <p:nvPr/>
        </p:nvSpPr>
        <p:spPr>
          <a:xfrm>
            <a:off x="548640" y="1508760"/>
            <a:ext cx="5120640" cy="1920240"/>
          </a:xfrm>
          <a:prstGeom prst="roundRect">
            <a:avLst>
              <a:gd name="adj" fmla="val 3810"/>
            </a:avLst>
          </a:prstGeom>
          <a:solidFill>
            <a:srgbClr val="DDF0EE"/>
          </a:solidFill>
          <a:ln w="12700">
            <a:solidFill>
              <a:srgbClr val="DDF0EE"/>
            </a:solidFill>
            <a:prstDash val="solid"/>
          </a:ln>
        </p:spPr>
      </p:sp>
      <p:sp>
        <p:nvSpPr>
          <p:cNvPr id="5" name="Text 2"/>
          <p:cNvSpPr txBox="1"/>
          <p:nvPr/>
        </p:nvSpPr>
        <p:spPr>
          <a:xfrm>
            <a:off x="777240" y="1618488"/>
            <a:ext cx="466344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Idea</a:t>
            </a:r>
            <a:endParaRPr lang="en-US" sz="1800" dirty="0"/>
          </a:p>
        </p:txBody>
      </p:sp>
      <p:sp>
        <p:nvSpPr>
          <p:cNvPr id="6" name="Text 3"/>
          <p:cNvSpPr txBox="1"/>
          <p:nvPr/>
        </p:nvSpPr>
        <p:spPr>
          <a:xfrm>
            <a:off x="777240" y="2011680"/>
            <a:ext cx="4663440" cy="132588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Legitimate transactions are a mix of K Gaussian blobs. Score = −log p(x): the less likely under normal behaviour, the more suspicious.</a:t>
            </a:r>
            <a:endParaRPr lang="en-US" sz="1400" dirty="0"/>
          </a:p>
        </p:txBody>
      </p:sp>
      <p:sp>
        <p:nvSpPr>
          <p:cNvPr id="7" name="Text 4"/>
          <p:cNvSpPr txBox="1"/>
          <p:nvPr/>
        </p:nvSpPr>
        <p:spPr>
          <a:xfrm>
            <a:off x="548640" y="3657600"/>
            <a:ext cx="51206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Full covariance, fitted by EM on 152,955 legitimate rows</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K chosen by lowest BIC on a 50,000-row subsample</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reg_covar = 1e-3: with the default, components collapsed and BIC never reached a minimum</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Converged in 27 EM iterations, 2,789 parameters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35040" y="1508760"/>
          <a:ext cx="5605272" cy="914400"/>
        </p:xfrm>
        <a:graphic>
          <a:graphicData uri="http://schemas.openxmlformats.org/drawingml/2006/table">
            <a:tbl>
              <a:tblPr/>
              <a:tblGrid>
                <a:gridCol w="1280160"/>
                <a:gridCol w="2148840"/>
                <a:gridCol w="2176272"/>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AIC</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BIC</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4,032,850</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4,036,943</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2,228,812</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2,237,006</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2,139,656</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2,151,950</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1,651,352</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1,667,748</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B2B3A"/>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400" b="1" dirty="0">
                          <a:solidFill>
                            <a:srgbClr val="1B2B3A"/>
                          </a:solidFill>
                          <a:latin typeface="Calibri" pitchFamily="34" charset="0"/>
                          <a:ea typeface="Calibri" pitchFamily="34" charset="-122"/>
                          <a:cs typeface="Calibri" pitchFamily="34" charset="-120"/>
                        </a:rPr>
                        <a:t>680,663</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400" b="1" dirty="0">
                          <a:solidFill>
                            <a:srgbClr val="1B2B3A"/>
                          </a:solidFill>
                          <a:latin typeface="Calibri" pitchFamily="34" charset="0"/>
                          <a:ea typeface="Calibri" pitchFamily="34" charset="-122"/>
                          <a:cs typeface="Calibri" pitchFamily="34" charset="-120"/>
                        </a:rPr>
                        <a:t>705,261</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r>
              <a:tr h="384048">
                <a:tc>
                  <a:txBody>
                    <a:bodyPr/>
                    <a:lstStyle/>
                    <a:p>
                      <a:pPr algn="l" indent="0" marL="0">
                        <a:buNone/>
                      </a:pPr>
                      <a:r>
                        <a:rPr lang="en-US" sz="1400" dirty="0">
                          <a:solidFill>
                            <a:srgbClr val="1B2B3A"/>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789,664</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B3A"/>
                          </a:solidFill>
                          <a:latin typeface="Calibri" pitchFamily="34" charset="0"/>
                          <a:ea typeface="Calibri" pitchFamily="34" charset="-122"/>
                          <a:cs typeface="Calibri" pitchFamily="34" charset="-120"/>
                        </a:rPr>
                        <a:t>822,465</a:t>
                      </a:r>
                      <a:endParaRPr lang="en-US" sz="14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9" name="Shape 5"/>
          <p:cNvSpPr/>
          <p:nvPr/>
        </p:nvSpPr>
        <p:spPr>
          <a:xfrm>
            <a:off x="6035040" y="4389120"/>
            <a:ext cx="5605272" cy="1097280"/>
          </a:xfrm>
          <a:prstGeom prst="roundRect">
            <a:avLst>
              <a:gd name="adj" fmla="val 6667"/>
            </a:avLst>
          </a:prstGeom>
          <a:solidFill>
            <a:srgbClr val="FBE9D0"/>
          </a:solidFill>
          <a:ln w="12700">
            <a:solidFill>
              <a:srgbClr val="FBE9D0"/>
            </a:solidFill>
            <a:prstDash val="solid"/>
          </a:ln>
        </p:spPr>
      </p:sp>
      <p:sp>
        <p:nvSpPr>
          <p:cNvPr id="10" name="Text 6"/>
          <p:cNvSpPr txBox="1"/>
          <p:nvPr/>
        </p:nvSpPr>
        <p:spPr>
          <a:xfrm>
            <a:off x="6263640" y="4462272"/>
            <a:ext cx="5148072" cy="950976"/>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Lowest BIC and AIC at K = 6, so K = 6 is selected. Lower is better; BIC penalises parameters more.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Thresholds and No Leakage</a:t>
            </a:r>
            <a:endParaRPr lang="en-US" sz="3200" dirty="0"/>
          </a:p>
        </p:txBody>
      </p:sp>
      <p:sp>
        <p:nvSpPr>
          <p:cNvPr id="3" name="Shape 1"/>
          <p:cNvSpPr/>
          <p:nvPr/>
        </p:nvSpPr>
        <p:spPr>
          <a:xfrm>
            <a:off x="548640" y="1508760"/>
            <a:ext cx="5394960" cy="1188720"/>
          </a:xfrm>
          <a:prstGeom prst="roundRect">
            <a:avLst>
              <a:gd name="adj" fmla="val 6154"/>
            </a:avLst>
          </a:prstGeom>
          <a:solidFill>
            <a:srgbClr val="DDF0EE"/>
          </a:solidFill>
          <a:ln w="12700">
            <a:solidFill>
              <a:srgbClr val="DDF0EE"/>
            </a:solidFill>
            <a:prstDash val="solid"/>
          </a:ln>
        </p:spPr>
      </p:sp>
      <p:sp>
        <p:nvSpPr>
          <p:cNvPr id="4" name="Text 2"/>
          <p:cNvSpPr txBox="1"/>
          <p:nvPr/>
        </p:nvSpPr>
        <p:spPr>
          <a:xfrm>
            <a:off x="777240" y="1618488"/>
            <a:ext cx="493776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Threshold rule</a:t>
            </a:r>
            <a:endParaRPr lang="en-US" sz="1800" dirty="0"/>
          </a:p>
        </p:txBody>
      </p:sp>
      <p:sp>
        <p:nvSpPr>
          <p:cNvPr id="5" name="Text 3"/>
          <p:cNvSpPr txBox="1"/>
          <p:nvPr/>
        </p:nvSpPr>
        <p:spPr>
          <a:xfrm>
            <a:off x="777240" y="2011680"/>
            <a:ext cx="4937760" cy="5943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Threshold = 99th percentile of legitimate validation scores (about 1% false-positive budget). Flag when score &gt; threshold.</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5394960" cy="914400"/>
        </p:xfrm>
        <a:graphic>
          <a:graphicData uri="http://schemas.openxmlformats.org/drawingml/2006/table">
            <a:tbl>
              <a:tblPr/>
              <a:tblGrid>
                <a:gridCol w="1371600"/>
                <a:gridCol w="1005840"/>
                <a:gridCol w="640080"/>
                <a:gridCol w="731520"/>
                <a:gridCol w="822960"/>
                <a:gridCol w="82296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 AP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200" b="1" dirty="0">
                          <a:solidFill>
                            <a:srgbClr val="1B2B3A"/>
                          </a:solidFill>
                          <a:latin typeface="Calibri" pitchFamily="34" charset="0"/>
                          <a:ea typeface="Calibri" pitchFamily="34" charset="-122"/>
                          <a:cs typeface="Calibri" pitchFamily="34" charset="-120"/>
                        </a:rPr>
                        <a:t>GMM</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57.5098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567</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0.862</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0.553</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r>
              <a:tr h="384048">
                <a:tc>
                  <a:txBody>
                    <a:bodyPr/>
                    <a:lstStyle/>
                    <a:p>
                      <a:pPr algn="l" indent="0" marL="0">
                        <a:buNone/>
                      </a:pPr>
                      <a:r>
                        <a:rPr lang="en-US" sz="1200" dirty="0">
                          <a:solidFill>
                            <a:srgbClr val="1B2B3A"/>
                          </a:solidFill>
                          <a:latin typeface="Calibri" pitchFamily="34" charset="0"/>
                          <a:ea typeface="Calibri" pitchFamily="34" charset="-122"/>
                          <a:cs typeface="Calibri" pitchFamily="34" charset="-120"/>
                        </a:rPr>
                        <a:t>AE baseline</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1.9348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79</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567</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0.840</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0.405</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2B3A"/>
                          </a:solidFill>
                          <a:latin typeface="Calibri" pitchFamily="34" charset="0"/>
                          <a:ea typeface="Calibri" pitchFamily="34" charset="-122"/>
                          <a:cs typeface="Calibri" pitchFamily="34" charset="-120"/>
                        </a:rPr>
                        <a:t>AE selected</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1.8553</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567</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0.851</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0.413</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572000"/>
            <a:ext cx="5394960" cy="6400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Every model has 567 false positives: that is the 1% rule working. Say "approximately 1%".</a:t>
            </a:r>
            <a:endParaRPr lang="en-US" sz="1300" dirty="0"/>
          </a:p>
        </p:txBody>
      </p:sp>
      <p:sp>
        <p:nvSpPr>
          <p:cNvPr id="8" name="Shape 5"/>
          <p:cNvSpPr/>
          <p:nvPr/>
        </p:nvSpPr>
        <p:spPr>
          <a:xfrm>
            <a:off x="6217920" y="1508760"/>
            <a:ext cx="5422392" cy="4114800"/>
          </a:xfrm>
          <a:prstGeom prst="roundRect">
            <a:avLst>
              <a:gd name="adj" fmla="val 1778"/>
            </a:avLst>
          </a:prstGeom>
          <a:solidFill>
            <a:srgbClr val="EEF3F7"/>
          </a:solidFill>
          <a:ln w="12700">
            <a:solidFill>
              <a:srgbClr val="EEF3F7"/>
            </a:solidFill>
            <a:prstDash val="solid"/>
          </a:ln>
        </p:spPr>
      </p:sp>
      <p:sp>
        <p:nvSpPr>
          <p:cNvPr id="9" name="Text 6"/>
          <p:cNvSpPr txBox="1"/>
          <p:nvPr/>
        </p:nvSpPr>
        <p:spPr>
          <a:xfrm>
            <a:off x="6446520" y="1627632"/>
            <a:ext cx="493776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Rules enforced in code</a:t>
            </a:r>
            <a:endParaRPr lang="en-US" sz="1800" dirty="0"/>
          </a:p>
        </p:txBody>
      </p:sp>
      <p:sp>
        <p:nvSpPr>
          <p:cNvPr id="10" name="Text 7"/>
          <p:cNvSpPr txBox="1"/>
          <p:nvPr/>
        </p:nvSpPr>
        <p:spPr>
          <a:xfrm>
            <a:off x="6446520" y="210312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Duplicates removed before splitting</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Scaler, GMM and autoencoder fitted on legitimate training rows only</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Thresholds and AE choice use validation data only</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Test set used once, at the end, never for a choice</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Class never a model input; Time excluded</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Same direction everywhere: higher score = more suspicious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Autoencoder</a:t>
            </a:r>
            <a:endParaRPr lang="en-US" sz="3200" dirty="0"/>
          </a:p>
        </p:txBody>
      </p:sp>
      <p:sp>
        <p:nvSpPr>
          <p:cNvPr id="4" name="Shape 1"/>
          <p:cNvSpPr/>
          <p:nvPr/>
        </p:nvSpPr>
        <p:spPr>
          <a:xfrm>
            <a:off x="548640" y="1554480"/>
            <a:ext cx="1920240" cy="1554480"/>
          </a:xfrm>
          <a:prstGeom prst="roundRect">
            <a:avLst>
              <a:gd name="adj" fmla="val 4706"/>
            </a:avLst>
          </a:prstGeom>
          <a:solidFill>
            <a:srgbClr val="EEF3F7"/>
          </a:solidFill>
          <a:ln w="12700">
            <a:solidFill>
              <a:srgbClr val="EEF3F7"/>
            </a:solidFill>
            <a:prstDash val="solid"/>
          </a:ln>
        </p:spPr>
      </p:sp>
      <p:sp>
        <p:nvSpPr>
          <p:cNvPr id="5" name="Text 2"/>
          <p:cNvSpPr txBox="1"/>
          <p:nvPr/>
        </p:nvSpPr>
        <p:spPr>
          <a:xfrm>
            <a:off x="548640" y="1691640"/>
            <a:ext cx="1920240" cy="731520"/>
          </a:xfrm>
          <a:prstGeom prst="rect">
            <a:avLst/>
          </a:prstGeom>
          <a:noFill/>
          <a:ln/>
        </p:spPr>
        <p:txBody>
          <a:bodyPr wrap="square" lIns="0" tIns="0" rIns="0" bIns="0" rtlCol="0" anchor="ctr"/>
          <a:lstStyle/>
          <a:p>
            <a:pPr algn="ctr" indent="0" marL="0">
              <a:buNone/>
            </a:pPr>
            <a:r>
              <a:rPr lang="en-US" sz="3400" b="1" dirty="0">
                <a:solidFill>
                  <a:srgbClr val="138D7E"/>
                </a:solidFill>
                <a:latin typeface="Cambria" pitchFamily="34" charset="0"/>
                <a:ea typeface="Cambria" pitchFamily="34" charset="-122"/>
                <a:cs typeface="Cambria" pitchFamily="34" charset="-120"/>
              </a:rPr>
              <a:t>29</a:t>
            </a:r>
            <a:endParaRPr lang="en-US" sz="3400" dirty="0"/>
          </a:p>
        </p:txBody>
      </p:sp>
      <p:sp>
        <p:nvSpPr>
          <p:cNvPr id="6" name="Text 3"/>
          <p:cNvSpPr txBox="1"/>
          <p:nvPr/>
        </p:nvSpPr>
        <p:spPr>
          <a:xfrm>
            <a:off x="548640" y="2468880"/>
            <a:ext cx="1920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Input</a:t>
            </a:r>
            <a:endParaRPr lang="en-US" sz="1500" dirty="0"/>
          </a:p>
        </p:txBody>
      </p:sp>
      <p:sp>
        <p:nvSpPr>
          <p:cNvPr id="7" name="Text 4"/>
          <p:cNvSpPr txBox="1"/>
          <p:nvPr/>
        </p:nvSpPr>
        <p:spPr>
          <a:xfrm>
            <a:off x="2468880" y="2011680"/>
            <a:ext cx="365760" cy="457200"/>
          </a:xfrm>
          <a:prstGeom prst="rect">
            <a:avLst/>
          </a:prstGeom>
          <a:noFill/>
          <a:ln/>
        </p:spPr>
        <p:txBody>
          <a:bodyPr wrap="square" lIns="0" tIns="0" rIns="0" bIns="0" rtlCol="0" anchor="ctr"/>
          <a:lstStyle/>
          <a:p>
            <a:pPr algn="ctr" indent="0" marL="0">
              <a:buNone/>
            </a:pPr>
            <a:r>
              <a:rPr lang="en-US" sz="2200" b="1" dirty="0">
                <a:solidFill>
                  <a:srgbClr val="5B6B7F"/>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2834640" y="1554480"/>
            <a:ext cx="1920240" cy="1554480"/>
          </a:xfrm>
          <a:prstGeom prst="roundRect">
            <a:avLst>
              <a:gd name="adj" fmla="val 4706"/>
            </a:avLst>
          </a:prstGeom>
          <a:solidFill>
            <a:srgbClr val="EEF3F7"/>
          </a:solidFill>
          <a:ln w="12700">
            <a:solidFill>
              <a:srgbClr val="EEF3F7"/>
            </a:solidFill>
            <a:prstDash val="solid"/>
          </a:ln>
        </p:spPr>
      </p:sp>
      <p:sp>
        <p:nvSpPr>
          <p:cNvPr id="9" name="Text 6"/>
          <p:cNvSpPr txBox="1"/>
          <p:nvPr/>
        </p:nvSpPr>
        <p:spPr>
          <a:xfrm>
            <a:off x="2834640" y="1691640"/>
            <a:ext cx="1920240" cy="731520"/>
          </a:xfrm>
          <a:prstGeom prst="rect">
            <a:avLst/>
          </a:prstGeom>
          <a:noFill/>
          <a:ln/>
        </p:spPr>
        <p:txBody>
          <a:bodyPr wrap="square" lIns="0" tIns="0" rIns="0" bIns="0" rtlCol="0" anchor="ctr"/>
          <a:lstStyle/>
          <a:p>
            <a:pPr algn="ctr" indent="0" marL="0">
              <a:buNone/>
            </a:pPr>
            <a:r>
              <a:rPr lang="en-US" sz="3400" b="1" dirty="0">
                <a:solidFill>
                  <a:srgbClr val="138D7E"/>
                </a:solidFill>
                <a:latin typeface="Cambria" pitchFamily="34" charset="0"/>
                <a:ea typeface="Cambria" pitchFamily="34" charset="-122"/>
                <a:cs typeface="Cambria" pitchFamily="34" charset="-120"/>
              </a:rPr>
              <a:t>16</a:t>
            </a:r>
            <a:endParaRPr lang="en-US" sz="3400" dirty="0"/>
          </a:p>
        </p:txBody>
      </p:sp>
      <p:sp>
        <p:nvSpPr>
          <p:cNvPr id="10" name="Text 7"/>
          <p:cNvSpPr txBox="1"/>
          <p:nvPr/>
        </p:nvSpPr>
        <p:spPr>
          <a:xfrm>
            <a:off x="2834640" y="2468880"/>
            <a:ext cx="1920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Hidden</a:t>
            </a:r>
            <a:endParaRPr lang="en-US" sz="1500" dirty="0"/>
          </a:p>
        </p:txBody>
      </p:sp>
      <p:sp>
        <p:nvSpPr>
          <p:cNvPr id="11" name="Text 8"/>
          <p:cNvSpPr txBox="1"/>
          <p:nvPr/>
        </p:nvSpPr>
        <p:spPr>
          <a:xfrm>
            <a:off x="4754880" y="2011680"/>
            <a:ext cx="365760" cy="457200"/>
          </a:xfrm>
          <a:prstGeom prst="rect">
            <a:avLst/>
          </a:prstGeom>
          <a:noFill/>
          <a:ln/>
        </p:spPr>
        <p:txBody>
          <a:bodyPr wrap="square" lIns="0" tIns="0" rIns="0" bIns="0" rtlCol="0" anchor="ctr"/>
          <a:lstStyle/>
          <a:p>
            <a:pPr algn="ctr" indent="0" marL="0">
              <a:buNone/>
            </a:pPr>
            <a:r>
              <a:rPr lang="en-US" sz="2200" b="1" dirty="0">
                <a:solidFill>
                  <a:srgbClr val="5B6B7F"/>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120640" y="1554480"/>
            <a:ext cx="1920240" cy="1554480"/>
          </a:xfrm>
          <a:prstGeom prst="roundRect">
            <a:avLst>
              <a:gd name="adj" fmla="val 4706"/>
            </a:avLst>
          </a:prstGeom>
          <a:solidFill>
            <a:srgbClr val="0B2545"/>
          </a:solidFill>
          <a:ln w="12700">
            <a:solidFill>
              <a:srgbClr val="0B2545"/>
            </a:solidFill>
            <a:prstDash val="solid"/>
          </a:ln>
        </p:spPr>
      </p:sp>
      <p:sp>
        <p:nvSpPr>
          <p:cNvPr id="13" name="Text 10"/>
          <p:cNvSpPr txBox="1"/>
          <p:nvPr/>
        </p:nvSpPr>
        <p:spPr>
          <a:xfrm>
            <a:off x="5120640" y="1691640"/>
            <a:ext cx="1920240" cy="731520"/>
          </a:xfrm>
          <a:prstGeom prst="rect">
            <a:avLst/>
          </a:prstGeom>
          <a:noFill/>
          <a:ln/>
        </p:spPr>
        <p:txBody>
          <a:bodyPr wrap="square" lIns="0" tIns="0" rIns="0" bIns="0" rtlCol="0" anchor="ctr"/>
          <a:lstStyle/>
          <a:p>
            <a:pPr algn="ctr" indent="0" marL="0">
              <a:buNone/>
            </a:pPr>
            <a:r>
              <a:rPr lang="en-US" sz="3400" b="1" dirty="0">
                <a:solidFill>
                  <a:srgbClr val="F0A03C"/>
                </a:solidFill>
                <a:latin typeface="Cambria" pitchFamily="34" charset="0"/>
                <a:ea typeface="Cambria" pitchFamily="34" charset="-122"/>
                <a:cs typeface="Cambria" pitchFamily="34" charset="-120"/>
              </a:rPr>
              <a:t>8</a:t>
            </a:r>
            <a:endParaRPr lang="en-US" sz="3400" dirty="0"/>
          </a:p>
        </p:txBody>
      </p:sp>
      <p:sp>
        <p:nvSpPr>
          <p:cNvPr id="14" name="Text 11"/>
          <p:cNvSpPr txBox="1"/>
          <p:nvPr/>
        </p:nvSpPr>
        <p:spPr>
          <a:xfrm>
            <a:off x="5120640" y="246888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Bottleneck</a:t>
            </a:r>
            <a:endParaRPr lang="en-US" sz="1500" dirty="0"/>
          </a:p>
        </p:txBody>
      </p:sp>
      <p:sp>
        <p:nvSpPr>
          <p:cNvPr id="15" name="Text 12"/>
          <p:cNvSpPr txBox="1"/>
          <p:nvPr/>
        </p:nvSpPr>
        <p:spPr>
          <a:xfrm>
            <a:off x="7040880" y="2011680"/>
            <a:ext cx="365760" cy="457200"/>
          </a:xfrm>
          <a:prstGeom prst="rect">
            <a:avLst/>
          </a:prstGeom>
          <a:noFill/>
          <a:ln/>
        </p:spPr>
        <p:txBody>
          <a:bodyPr wrap="square" lIns="0" tIns="0" rIns="0" bIns="0" rtlCol="0" anchor="ctr"/>
          <a:lstStyle/>
          <a:p>
            <a:pPr algn="ctr" indent="0" marL="0">
              <a:buNone/>
            </a:pPr>
            <a:r>
              <a:rPr lang="en-US" sz="2200" b="1" dirty="0">
                <a:solidFill>
                  <a:srgbClr val="5B6B7F"/>
                </a:solidFill>
                <a:latin typeface="Calibri" pitchFamily="34" charset="0"/>
                <a:ea typeface="Calibri" pitchFamily="34" charset="-122"/>
                <a:cs typeface="Calibri" pitchFamily="34" charset="-120"/>
              </a:rPr>
              <a:t>→</a:t>
            </a:r>
            <a:endParaRPr lang="en-US" sz="2200" dirty="0"/>
          </a:p>
        </p:txBody>
      </p:sp>
      <p:sp>
        <p:nvSpPr>
          <p:cNvPr id="16" name="Shape 13"/>
          <p:cNvSpPr/>
          <p:nvPr/>
        </p:nvSpPr>
        <p:spPr>
          <a:xfrm>
            <a:off x="7406640" y="1554480"/>
            <a:ext cx="1920240" cy="1554480"/>
          </a:xfrm>
          <a:prstGeom prst="roundRect">
            <a:avLst>
              <a:gd name="adj" fmla="val 4706"/>
            </a:avLst>
          </a:prstGeom>
          <a:solidFill>
            <a:srgbClr val="EEF3F7"/>
          </a:solidFill>
          <a:ln w="12700">
            <a:solidFill>
              <a:srgbClr val="EEF3F7"/>
            </a:solidFill>
            <a:prstDash val="solid"/>
          </a:ln>
        </p:spPr>
      </p:sp>
      <p:sp>
        <p:nvSpPr>
          <p:cNvPr id="17" name="Text 14"/>
          <p:cNvSpPr txBox="1"/>
          <p:nvPr/>
        </p:nvSpPr>
        <p:spPr>
          <a:xfrm>
            <a:off x="7406640" y="1691640"/>
            <a:ext cx="1920240" cy="731520"/>
          </a:xfrm>
          <a:prstGeom prst="rect">
            <a:avLst/>
          </a:prstGeom>
          <a:noFill/>
          <a:ln/>
        </p:spPr>
        <p:txBody>
          <a:bodyPr wrap="square" lIns="0" tIns="0" rIns="0" bIns="0" rtlCol="0" anchor="ctr"/>
          <a:lstStyle/>
          <a:p>
            <a:pPr algn="ctr" indent="0" marL="0">
              <a:buNone/>
            </a:pPr>
            <a:r>
              <a:rPr lang="en-US" sz="3400" b="1" dirty="0">
                <a:solidFill>
                  <a:srgbClr val="138D7E"/>
                </a:solidFill>
                <a:latin typeface="Cambria" pitchFamily="34" charset="0"/>
                <a:ea typeface="Cambria" pitchFamily="34" charset="-122"/>
                <a:cs typeface="Cambria" pitchFamily="34" charset="-120"/>
              </a:rPr>
              <a:t>16</a:t>
            </a:r>
            <a:endParaRPr lang="en-US" sz="3400" dirty="0"/>
          </a:p>
        </p:txBody>
      </p:sp>
      <p:sp>
        <p:nvSpPr>
          <p:cNvPr id="18" name="Text 15"/>
          <p:cNvSpPr txBox="1"/>
          <p:nvPr/>
        </p:nvSpPr>
        <p:spPr>
          <a:xfrm>
            <a:off x="7406640" y="2468880"/>
            <a:ext cx="1920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Hidden</a:t>
            </a:r>
            <a:endParaRPr lang="en-US" sz="1500" dirty="0"/>
          </a:p>
        </p:txBody>
      </p:sp>
      <p:sp>
        <p:nvSpPr>
          <p:cNvPr id="19" name="Text 16"/>
          <p:cNvSpPr txBox="1"/>
          <p:nvPr/>
        </p:nvSpPr>
        <p:spPr>
          <a:xfrm>
            <a:off x="9326880" y="2011680"/>
            <a:ext cx="365760" cy="457200"/>
          </a:xfrm>
          <a:prstGeom prst="rect">
            <a:avLst/>
          </a:prstGeom>
          <a:noFill/>
          <a:ln/>
        </p:spPr>
        <p:txBody>
          <a:bodyPr wrap="square" lIns="0" tIns="0" rIns="0" bIns="0" rtlCol="0" anchor="ctr"/>
          <a:lstStyle/>
          <a:p>
            <a:pPr algn="ctr" indent="0" marL="0">
              <a:buNone/>
            </a:pPr>
            <a:r>
              <a:rPr lang="en-US" sz="2200" b="1" dirty="0">
                <a:solidFill>
                  <a:srgbClr val="5B6B7F"/>
                </a:solidFill>
                <a:latin typeface="Calibri" pitchFamily="34" charset="0"/>
                <a:ea typeface="Calibri" pitchFamily="34" charset="-122"/>
                <a:cs typeface="Calibri" pitchFamily="34" charset="-120"/>
              </a:rPr>
              <a:t>→</a:t>
            </a:r>
            <a:endParaRPr lang="en-US" sz="2200" dirty="0"/>
          </a:p>
        </p:txBody>
      </p:sp>
      <p:sp>
        <p:nvSpPr>
          <p:cNvPr id="20" name="Shape 17"/>
          <p:cNvSpPr/>
          <p:nvPr/>
        </p:nvSpPr>
        <p:spPr>
          <a:xfrm>
            <a:off x="9692640" y="1554480"/>
            <a:ext cx="1920240" cy="1554480"/>
          </a:xfrm>
          <a:prstGeom prst="roundRect">
            <a:avLst>
              <a:gd name="adj" fmla="val 4706"/>
            </a:avLst>
          </a:prstGeom>
          <a:solidFill>
            <a:srgbClr val="EEF3F7"/>
          </a:solidFill>
          <a:ln w="12700">
            <a:solidFill>
              <a:srgbClr val="EEF3F7"/>
            </a:solidFill>
            <a:prstDash val="solid"/>
          </a:ln>
        </p:spPr>
      </p:sp>
      <p:sp>
        <p:nvSpPr>
          <p:cNvPr id="21" name="Text 18"/>
          <p:cNvSpPr txBox="1"/>
          <p:nvPr/>
        </p:nvSpPr>
        <p:spPr>
          <a:xfrm>
            <a:off x="9692640" y="1691640"/>
            <a:ext cx="1920240" cy="731520"/>
          </a:xfrm>
          <a:prstGeom prst="rect">
            <a:avLst/>
          </a:prstGeom>
          <a:noFill/>
          <a:ln/>
        </p:spPr>
        <p:txBody>
          <a:bodyPr wrap="square" lIns="0" tIns="0" rIns="0" bIns="0" rtlCol="0" anchor="ctr"/>
          <a:lstStyle/>
          <a:p>
            <a:pPr algn="ctr" indent="0" marL="0">
              <a:buNone/>
            </a:pPr>
            <a:r>
              <a:rPr lang="en-US" sz="3400" b="1" dirty="0">
                <a:solidFill>
                  <a:srgbClr val="138D7E"/>
                </a:solidFill>
                <a:latin typeface="Cambria" pitchFamily="34" charset="0"/>
                <a:ea typeface="Cambria" pitchFamily="34" charset="-122"/>
                <a:cs typeface="Cambria" pitchFamily="34" charset="-120"/>
              </a:rPr>
              <a:t>29</a:t>
            </a:r>
            <a:endParaRPr lang="en-US" sz="3400" dirty="0"/>
          </a:p>
        </p:txBody>
      </p:sp>
      <p:sp>
        <p:nvSpPr>
          <p:cNvPr id="22" name="Text 19"/>
          <p:cNvSpPr txBox="1"/>
          <p:nvPr/>
        </p:nvSpPr>
        <p:spPr>
          <a:xfrm>
            <a:off x="9692640" y="2468880"/>
            <a:ext cx="1920240"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libri" pitchFamily="34" charset="0"/>
                <a:ea typeface="Calibri" pitchFamily="34" charset="-122"/>
                <a:cs typeface="Calibri" pitchFamily="34" charset="-120"/>
              </a:rPr>
              <a:t>Output</a:t>
            </a:r>
            <a:endParaRPr lang="en-US" sz="1500" dirty="0"/>
          </a:p>
        </p:txBody>
      </p:sp>
      <p:sp>
        <p:nvSpPr>
          <p:cNvPr id="23" name="Shape 20"/>
          <p:cNvSpPr/>
          <p:nvPr/>
        </p:nvSpPr>
        <p:spPr>
          <a:xfrm>
            <a:off x="548640" y="3383280"/>
            <a:ext cx="5440680" cy="2194560"/>
          </a:xfrm>
          <a:prstGeom prst="roundRect">
            <a:avLst>
              <a:gd name="adj" fmla="val 3333"/>
            </a:avLst>
          </a:prstGeom>
          <a:solidFill>
            <a:srgbClr val="DDF0EE"/>
          </a:solidFill>
          <a:ln w="12700">
            <a:solidFill>
              <a:srgbClr val="DDF0EE"/>
            </a:solidFill>
            <a:prstDash val="solid"/>
          </a:ln>
        </p:spPr>
      </p:sp>
      <p:sp>
        <p:nvSpPr>
          <p:cNvPr id="24" name="Text 21"/>
          <p:cNvSpPr txBox="1"/>
          <p:nvPr/>
        </p:nvSpPr>
        <p:spPr>
          <a:xfrm>
            <a:off x="777240" y="3493008"/>
            <a:ext cx="498348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Training setup</a:t>
            </a:r>
            <a:endParaRPr lang="en-US" sz="1800" dirty="0"/>
          </a:p>
        </p:txBody>
      </p:sp>
      <p:sp>
        <p:nvSpPr>
          <p:cNvPr id="25" name="Text 22"/>
          <p:cNvSpPr txBox="1"/>
          <p:nvPr/>
        </p:nvSpPr>
        <p:spPr>
          <a:xfrm>
            <a:off x="777240" y="3886200"/>
            <a:ext cx="4983480" cy="16002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Adam, learning rate 1e-3, batch 512, MSE loss, seed 42. Early stopping on a legitimate-only holdout (16,996 rows). 1,253 parameters.</a:t>
            </a:r>
            <a:endParaRPr lang="en-US" sz="1400" dirty="0"/>
          </a:p>
        </p:txBody>
      </p:sp>
      <p:sp>
        <p:nvSpPr>
          <p:cNvPr id="26" name="Shape 23"/>
          <p:cNvSpPr/>
          <p:nvPr/>
        </p:nvSpPr>
        <p:spPr>
          <a:xfrm>
            <a:off x="6199632" y="3383280"/>
            <a:ext cx="5440680" cy="2194560"/>
          </a:xfrm>
          <a:prstGeom prst="roundRect">
            <a:avLst>
              <a:gd name="adj" fmla="val 3333"/>
            </a:avLst>
          </a:prstGeom>
          <a:solidFill>
            <a:srgbClr val="FBE9D0"/>
          </a:solidFill>
          <a:ln w="12700">
            <a:solidFill>
              <a:srgbClr val="FBE9D0"/>
            </a:solidFill>
            <a:prstDash val="solid"/>
          </a:ln>
        </p:spPr>
      </p:sp>
      <p:sp>
        <p:nvSpPr>
          <p:cNvPr id="27" name="Text 24"/>
          <p:cNvSpPr txBox="1"/>
          <p:nvPr/>
        </p:nvSpPr>
        <p:spPr>
          <a:xfrm>
            <a:off x="6428232" y="3493008"/>
            <a:ext cx="498348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Anomaly score</a:t>
            </a:r>
            <a:endParaRPr lang="en-US" sz="1800" dirty="0"/>
          </a:p>
        </p:txBody>
      </p:sp>
      <p:sp>
        <p:nvSpPr>
          <p:cNvPr id="28" name="Text 25"/>
          <p:cNvSpPr txBox="1"/>
          <p:nvPr/>
        </p:nvSpPr>
        <p:spPr>
          <a:xfrm>
            <a:off x="6428232" y="3886200"/>
            <a:ext cx="4983480" cy="16002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Per-transaction reconstruction MSE between x and its rebuilt version. Rebuilt badly means more suspicious. Trained only on legitimate rows.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Autoencoder Experiments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1737360"/>
                <a:gridCol w="914400"/>
                <a:gridCol w="1188720"/>
                <a:gridCol w="1188720"/>
                <a:gridCol w="1097280"/>
                <a:gridCol w="64008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Config</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Bottleneck</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Epochs / patience</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Best MSE (epoch)</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Stopped by</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 AP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200" dirty="0">
                          <a:solidFill>
                            <a:srgbClr val="1B2B3A"/>
                          </a:solidFill>
                          <a:latin typeface="Calibri" pitchFamily="34" charset="0"/>
                          <a:ea typeface="Calibri" pitchFamily="34" charset="-122"/>
                          <a:cs typeface="Calibri" pitchFamily="34" charset="-120"/>
                        </a:rPr>
                        <a:t>AE-base</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50 / 5</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0.4353 (49)</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epoch cap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0.405</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B2B3A"/>
                          </a:solidFill>
                          <a:latin typeface="Calibri" pitchFamily="34" charset="0"/>
                          <a:ea typeface="Calibri" pitchFamily="34" charset="-122"/>
                          <a:cs typeface="Calibri" pitchFamily="34" charset="-120"/>
                        </a:rPr>
                        <a:t>AE-b8 (selected)</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100 / 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0.4256 (99)</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epoch cap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200" b="1" dirty="0">
                          <a:solidFill>
                            <a:srgbClr val="1B2B3A"/>
                          </a:solidFill>
                          <a:latin typeface="Calibri" pitchFamily="34" charset="0"/>
                          <a:ea typeface="Calibri" pitchFamily="34" charset="-122"/>
                          <a:cs typeface="Calibri" pitchFamily="34" charset="-120"/>
                        </a:rPr>
                        <a:t>0.413</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r>
              <a:tr h="384048">
                <a:tc>
                  <a:txBody>
                    <a:bodyPr/>
                    <a:lstStyle/>
                    <a:p>
                      <a:pPr algn="l" indent="0" marL="0">
                        <a:buNone/>
                      </a:pPr>
                      <a:r>
                        <a:rPr lang="en-US" sz="1200" dirty="0">
                          <a:solidFill>
                            <a:srgbClr val="1B2B3A"/>
                          </a:solidFill>
                          <a:latin typeface="Calibri" pitchFamily="34" charset="0"/>
                          <a:ea typeface="Calibri" pitchFamily="34" charset="-122"/>
                          <a:cs typeface="Calibri" pitchFamily="34" charset="-120"/>
                        </a:rPr>
                        <a:t>AE-b4</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100 / 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0.5055 (100)</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epoch cap</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0.377</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2B3A"/>
                          </a:solidFill>
                          <a:latin typeface="Calibri" pitchFamily="34" charset="0"/>
                          <a:ea typeface="Calibri" pitchFamily="34" charset="-122"/>
                          <a:cs typeface="Calibri" pitchFamily="34" charset="-120"/>
                        </a:rPr>
                        <a:t>AE-b12</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100 / 8</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0.4023 (65)</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early stop (73)</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B3A"/>
                          </a:solidFill>
                          <a:latin typeface="Calibri" pitchFamily="34" charset="0"/>
                          <a:ea typeface="Calibri" pitchFamily="34" charset="-122"/>
                          <a:cs typeface="Calibri" pitchFamily="34" charset="-120"/>
                        </a:rPr>
                        <a:t>0.282</a:t>
                      </a:r>
                      <a:endParaRPr lang="en-US" sz="12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7589520" y="1371600"/>
          <a:ext cx="4050792" cy="29260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3749040"/>
            <a:ext cx="6766560" cy="2286000"/>
          </a:xfrm>
          <a:prstGeom prst="roundRect">
            <a:avLst>
              <a:gd name="adj" fmla="val 3200"/>
            </a:avLst>
          </a:prstGeom>
          <a:solidFill>
            <a:srgbClr val="DDF0EE"/>
          </a:solidFill>
          <a:ln w="12700">
            <a:solidFill>
              <a:srgbClr val="DDF0EE"/>
            </a:solidFill>
            <a:prstDash val="solid"/>
          </a:ln>
        </p:spPr>
      </p:sp>
      <p:sp>
        <p:nvSpPr>
          <p:cNvPr id="6" name="Text 2"/>
          <p:cNvSpPr txBox="1"/>
          <p:nvPr/>
        </p:nvSpPr>
        <p:spPr>
          <a:xfrm>
            <a:off x="777240" y="3858768"/>
            <a:ext cx="630936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Findings</a:t>
            </a:r>
            <a:endParaRPr lang="en-US" sz="1800" dirty="0"/>
          </a:p>
        </p:txBody>
      </p:sp>
      <p:sp>
        <p:nvSpPr>
          <p:cNvPr id="7" name="Text 3"/>
          <p:cNvSpPr txBox="1"/>
          <p:nvPr/>
        </p:nvSpPr>
        <p:spPr>
          <a:xfrm>
            <a:off x="777240" y="4251960"/>
            <a:ext cx="6309360" cy="16916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Longer training helped validation AP only slightly (+0.008). The widest bottleneck rebuilt best (lowest MSE) but ranked fraud worst: lower loss does not mean better detection. AE-b8 chosen by validation AP.</a:t>
            </a:r>
            <a:endParaRPr lang="en-US" sz="1400" dirty="0"/>
          </a:p>
        </p:txBody>
      </p:sp>
      <p:sp>
        <p:nvSpPr>
          <p:cNvPr id="8" name="Shape 4"/>
          <p:cNvSpPr/>
          <p:nvPr/>
        </p:nvSpPr>
        <p:spPr>
          <a:xfrm>
            <a:off x="7589520" y="4480560"/>
            <a:ext cx="4050792" cy="1554480"/>
          </a:xfrm>
          <a:prstGeom prst="roundRect">
            <a:avLst>
              <a:gd name="adj" fmla="val 4706"/>
            </a:avLst>
          </a:prstGeom>
          <a:solidFill>
            <a:srgbClr val="FBE9D0"/>
          </a:solidFill>
          <a:ln w="12700">
            <a:solidFill>
              <a:srgbClr val="FBE9D0"/>
            </a:solidFill>
            <a:prstDash val="solid"/>
          </a:ln>
        </p:spPr>
      </p:sp>
      <p:sp>
        <p:nvSpPr>
          <p:cNvPr id="9" name="Text 5"/>
          <p:cNvSpPr txBox="1"/>
          <p:nvPr/>
        </p:nvSpPr>
        <p:spPr>
          <a:xfrm>
            <a:off x="7818120" y="4553712"/>
            <a:ext cx="3593592" cy="1408176"/>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Test AP: baseline 0.3568 vs selected 0.3575. The tuning did not meaningfully improve the autoencoder.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Test Set Results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949440" cy="914400"/>
        </p:xfrm>
        <a:graphic>
          <a:graphicData uri="http://schemas.openxmlformats.org/drawingml/2006/table">
            <a:tbl>
              <a:tblPr/>
              <a:tblGrid>
                <a:gridCol w="2651760"/>
                <a:gridCol w="1417320"/>
                <a:gridCol w="1371600"/>
                <a:gridCol w="150876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Test (56,746 rows, 95 fraud)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GMM (K = 6)</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AE baseline</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AE selected (b8)</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300" b="1" dirty="0">
                          <a:solidFill>
                            <a:srgbClr val="1B2B3A"/>
                          </a:solidFill>
                          <a:latin typeface="Calibri" pitchFamily="34" charset="0"/>
                          <a:ea typeface="Calibri" pitchFamily="34" charset="-122"/>
                          <a:cs typeface="Calibri" pitchFamily="34" charset="-120"/>
                        </a:rPr>
                        <a:t>Average precision</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0.473</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0.357</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0.358</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Precision @ top-100</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Recall @ 1% FPR (test ROC)</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Recall @ validation threshold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0.779 (74/95)</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0.779 (74/95)</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0.779 (74/95)</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Precision @ val threshold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0.107</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0.112</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0.111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Test FPR @ val threshold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1.09%</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Transactions flagged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694</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663</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667</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772400" y="1371600"/>
          <a:ext cx="3867912" cy="3017520"/>
        </p:xfrm>
        <a:graphic xmlns:a="http://schemas.openxmlformats.org/drawingml/2006/main">
          <a:graphicData uri="http://schemas.openxmlformats.org/drawingml/2006/chart">
            <c:chart xmlns:c="http://schemas.openxmlformats.org/drawingml/2006/chart" r:id="rId1"/>
          </a:graphicData>
        </a:graphic>
      </p:graphicFrame>
      <p:sp>
        <p:nvSpPr>
          <p:cNvPr id="6" name="Shape 1"/>
          <p:cNvSpPr/>
          <p:nvPr/>
        </p:nvSpPr>
        <p:spPr>
          <a:xfrm>
            <a:off x="548640" y="4846320"/>
            <a:ext cx="11091672" cy="1188720"/>
          </a:xfrm>
          <a:prstGeom prst="roundRect">
            <a:avLst>
              <a:gd name="adj" fmla="val 6154"/>
            </a:avLst>
          </a:prstGeom>
          <a:solidFill>
            <a:srgbClr val="FBE9D0"/>
          </a:solidFill>
          <a:ln w="12700">
            <a:solidFill>
              <a:srgbClr val="FBE9D0"/>
            </a:solidFill>
            <a:prstDash val="solid"/>
          </a:ln>
        </p:spPr>
      </p:sp>
      <p:sp>
        <p:nvSpPr>
          <p:cNvPr id="7" name="Text 2"/>
          <p:cNvSpPr txBox="1"/>
          <p:nvPr/>
        </p:nvSpPr>
        <p:spPr>
          <a:xfrm>
            <a:off x="777240" y="4956048"/>
            <a:ext cx="10634472"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Two different "recall" numbers</a:t>
            </a:r>
            <a:endParaRPr lang="en-US" sz="1800" dirty="0"/>
          </a:p>
        </p:txBody>
      </p:sp>
      <p:sp>
        <p:nvSpPr>
          <p:cNvPr id="8" name="Text 3"/>
          <p:cNvSpPr txBox="1"/>
          <p:nvPr/>
        </p:nvSpPr>
        <p:spPr>
          <a:xfrm>
            <a:off x="777240" y="5349240"/>
            <a:ext cx="10634472" cy="5943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Recall @ 1% FPR uses a cut-off from test labels: it measures ranking and is not achievable in practice. Recall @ validation threshold is what a deployed system would get. Both equal 0.779 here by coincidence.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Operating Point on the Test Set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949440" cy="914400"/>
        </p:xfrm>
        <a:graphic>
          <a:graphicData uri="http://schemas.openxmlformats.org/drawingml/2006/table">
            <a:tbl>
              <a:tblPr/>
              <a:tblGrid>
                <a:gridCol w="2560320"/>
                <a:gridCol w="731520"/>
                <a:gridCol w="822960"/>
                <a:gridCol w="731520"/>
                <a:gridCol w="1188720"/>
                <a:gridCol w="91440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 validation threshold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TP</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FP</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FN</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TN</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Flagged</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B2545"/>
                    </a:solidFill>
                  </a:tcPr>
                </a:tc>
              </a:tr>
              <a:tr h="384048">
                <a:tc>
                  <a:txBody>
                    <a:bodyPr/>
                    <a:lstStyle/>
                    <a:p>
                      <a:pPr algn="l" indent="0" marL="0">
                        <a:buNone/>
                      </a:pPr>
                      <a:r>
                        <a:rPr lang="en-US" sz="1300" b="1" dirty="0">
                          <a:solidFill>
                            <a:srgbClr val="1B2B3A"/>
                          </a:solidFill>
                          <a:latin typeface="Calibri" pitchFamily="34" charset="0"/>
                          <a:ea typeface="Calibri" pitchFamily="34" charset="-122"/>
                          <a:cs typeface="Calibri" pitchFamily="34" charset="-120"/>
                        </a:rPr>
                        <a:t>GMM (57.5098)</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620</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56,031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c>
                  <a:txBody>
                    <a:bodyPr/>
                    <a:lstStyle/>
                    <a:p>
                      <a:pPr algn="ctr" indent="0" marL="0">
                        <a:buNone/>
                      </a:pPr>
                      <a:r>
                        <a:rPr lang="en-US" sz="1300" b="1" dirty="0">
                          <a:solidFill>
                            <a:srgbClr val="1B2B3A"/>
                          </a:solidFill>
                          <a:latin typeface="Calibri" pitchFamily="34" charset="0"/>
                          <a:ea typeface="Calibri" pitchFamily="34" charset="-122"/>
                          <a:cs typeface="Calibri" pitchFamily="34" charset="-120"/>
                        </a:rPr>
                        <a:t>694</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0EE"/>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AE baseline (1.9348)</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589</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56,062</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663</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B3A"/>
                          </a:solidFill>
                          <a:latin typeface="Calibri" pitchFamily="34" charset="0"/>
                          <a:ea typeface="Calibri" pitchFamily="34" charset="-122"/>
                          <a:cs typeface="Calibri" pitchFamily="34" charset="-120"/>
                        </a:rPr>
                        <a:t>AE selected (1.8553)</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593</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56,058</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B3A"/>
                          </a:solidFill>
                          <a:latin typeface="Calibri" pitchFamily="34" charset="0"/>
                          <a:ea typeface="Calibri" pitchFamily="34" charset="-122"/>
                          <a:cs typeface="Calibri" pitchFamily="34" charset="-120"/>
                        </a:rPr>
                        <a:t>667</a:t>
                      </a:r>
                      <a:endParaRPr lang="en-US" sz="1300" dirty="0">
                        <a:latin typeface="Calibri" charset="0"/>
                        <a:ea typeface="Calibri" charset="0"/>
                        <a:cs typeface="Calibri" charset="0"/>
                      </a:endParaRPr>
                    </a:p>
                  </a:txBody>
                  <a:tcPr marL="91440" marR="91440"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Shape 1"/>
          <p:cNvSpPr/>
          <p:nvPr/>
        </p:nvSpPr>
        <p:spPr>
          <a:xfrm>
            <a:off x="7863840" y="1508760"/>
            <a:ext cx="3776472" cy="1371600"/>
          </a:xfrm>
          <a:prstGeom prst="roundRect">
            <a:avLst>
              <a:gd name="adj" fmla="val 5333"/>
            </a:avLst>
          </a:prstGeom>
          <a:solidFill>
            <a:srgbClr val="EEF3F7"/>
          </a:solidFill>
          <a:ln w="12700">
            <a:solidFill>
              <a:srgbClr val="EEF3F7"/>
            </a:solidFill>
            <a:prstDash val="solid"/>
          </a:ln>
        </p:spPr>
      </p:sp>
      <p:sp>
        <p:nvSpPr>
          <p:cNvPr id="5" name="Text 2"/>
          <p:cNvSpPr txBox="1"/>
          <p:nvPr/>
        </p:nvSpPr>
        <p:spPr>
          <a:xfrm>
            <a:off x="8092440" y="1618488"/>
            <a:ext cx="3319272" cy="685800"/>
          </a:xfrm>
          <a:prstGeom prst="rect">
            <a:avLst/>
          </a:prstGeom>
          <a:noFill/>
          <a:ln/>
        </p:spPr>
        <p:txBody>
          <a:bodyPr wrap="square" lIns="0" tIns="0" rIns="0" bIns="0" rtlCol="0" anchor="ctr"/>
          <a:lstStyle/>
          <a:p>
            <a:pPr indent="0" marL="0">
              <a:buNone/>
            </a:pPr>
            <a:r>
              <a:rPr lang="en-US" sz="2800" b="1" dirty="0">
                <a:solidFill>
                  <a:srgbClr val="138D7E"/>
                </a:solidFill>
                <a:latin typeface="Cambria" pitchFamily="34" charset="0"/>
                <a:ea typeface="Cambria" pitchFamily="34" charset="-122"/>
                <a:cs typeface="Cambria" pitchFamily="34" charset="-120"/>
              </a:rPr>
              <a:t>74 / 95</a:t>
            </a:r>
            <a:endParaRPr lang="en-US" sz="2800" dirty="0"/>
          </a:p>
        </p:txBody>
      </p:sp>
      <p:sp>
        <p:nvSpPr>
          <p:cNvPr id="6" name="Text 3"/>
          <p:cNvSpPr txBox="1"/>
          <p:nvPr/>
        </p:nvSpPr>
        <p:spPr>
          <a:xfrm>
            <a:off x="8092440" y="2263140"/>
            <a:ext cx="3319272" cy="5486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frauds caught by every model (recall 0.779)</a:t>
            </a:r>
            <a:endParaRPr lang="en-US" sz="1300" dirty="0"/>
          </a:p>
        </p:txBody>
      </p:sp>
      <p:sp>
        <p:nvSpPr>
          <p:cNvPr id="7" name="Shape 4"/>
          <p:cNvSpPr/>
          <p:nvPr/>
        </p:nvSpPr>
        <p:spPr>
          <a:xfrm>
            <a:off x="548640" y="3291840"/>
            <a:ext cx="6949440" cy="1371600"/>
          </a:xfrm>
          <a:prstGeom prst="roundRect">
            <a:avLst>
              <a:gd name="adj" fmla="val 5333"/>
            </a:avLst>
          </a:prstGeom>
          <a:solidFill>
            <a:srgbClr val="DDF0EE"/>
          </a:solidFill>
          <a:ln w="12700">
            <a:solidFill>
              <a:srgbClr val="DDF0EE"/>
            </a:solidFill>
            <a:prstDash val="solid"/>
          </a:ln>
        </p:spPr>
      </p:sp>
      <p:sp>
        <p:nvSpPr>
          <p:cNvPr id="8" name="Text 5"/>
          <p:cNvSpPr txBox="1"/>
          <p:nvPr/>
        </p:nvSpPr>
        <p:spPr>
          <a:xfrm>
            <a:off x="777240" y="3401568"/>
            <a:ext cx="649224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Worked check (GMM)</a:t>
            </a:r>
            <a:endParaRPr lang="en-US" sz="1800" dirty="0"/>
          </a:p>
        </p:txBody>
      </p:sp>
      <p:sp>
        <p:nvSpPr>
          <p:cNvPr id="9" name="Text 6"/>
          <p:cNvSpPr txBox="1"/>
          <p:nvPr/>
        </p:nvSpPr>
        <p:spPr>
          <a:xfrm>
            <a:off x="777240" y="3794760"/>
            <a:ext cx="6492240" cy="7772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Precision = 74 / 694 = 0.107. Recall = 74 / 95 = 0.779. FPR = 620 / 56,651 = 1.09%.</a:t>
            </a:r>
            <a:endParaRPr lang="en-US" sz="1400" dirty="0"/>
          </a:p>
        </p:txBody>
      </p:sp>
      <p:sp>
        <p:nvSpPr>
          <p:cNvPr id="10" name="Shape 7"/>
          <p:cNvSpPr/>
          <p:nvPr/>
        </p:nvSpPr>
        <p:spPr>
          <a:xfrm>
            <a:off x="7863840" y="3063240"/>
            <a:ext cx="3776472" cy="1600200"/>
          </a:xfrm>
          <a:prstGeom prst="roundRect">
            <a:avLst>
              <a:gd name="adj" fmla="val 4571"/>
            </a:avLst>
          </a:prstGeom>
          <a:solidFill>
            <a:srgbClr val="FBE9D0"/>
          </a:solidFill>
          <a:ln w="12700">
            <a:solidFill>
              <a:srgbClr val="FBE9D0"/>
            </a:solidFill>
            <a:prstDash val="solid"/>
          </a:ln>
        </p:spPr>
      </p:sp>
      <p:sp>
        <p:nvSpPr>
          <p:cNvPr id="11" name="Text 8"/>
          <p:cNvSpPr txBox="1"/>
          <p:nvPr/>
        </p:nvSpPr>
        <p:spPr>
          <a:xfrm>
            <a:off x="8092440" y="3136392"/>
            <a:ext cx="3319272" cy="1453896"/>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About 1 alert in 9 is a real fraud at this operating point.</a:t>
            </a:r>
            <a:endParaRPr lang="en-US" sz="1400" dirty="0"/>
          </a:p>
        </p:txBody>
      </p:sp>
      <p:sp>
        <p:nvSpPr>
          <p:cNvPr id="12" name="Shape 9"/>
          <p:cNvSpPr/>
          <p:nvPr/>
        </p:nvSpPr>
        <p:spPr>
          <a:xfrm>
            <a:off x="548640" y="4892040"/>
            <a:ext cx="11091672" cy="1097280"/>
          </a:xfrm>
          <a:prstGeom prst="roundRect">
            <a:avLst>
              <a:gd name="adj" fmla="val 6667"/>
            </a:avLst>
          </a:prstGeom>
          <a:solidFill>
            <a:srgbClr val="DDF0EE"/>
          </a:solidFill>
          <a:ln w="12700">
            <a:solidFill>
              <a:srgbClr val="DDF0EE"/>
            </a:solidFill>
            <a:prstDash val="solid"/>
          </a:ln>
        </p:spPr>
      </p:sp>
      <p:sp>
        <p:nvSpPr>
          <p:cNvPr id="13" name="Text 10"/>
          <p:cNvSpPr txBox="1"/>
          <p:nvPr/>
        </p:nvSpPr>
        <p:spPr>
          <a:xfrm>
            <a:off x="777240" y="4965192"/>
            <a:ext cx="10634472" cy="950976"/>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Test thresholds were fixed on validation data, so the test FPR (about 1.04–1.09%) lands close to, but not exactly on, the 1% budget.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Do the Models Miss the Same Frauds?</a:t>
            </a:r>
            <a:endParaRPr lang="en-US" sz="3200" dirty="0"/>
          </a:p>
        </p:txBody>
      </p:sp>
      <p:sp>
        <p:nvSpPr>
          <p:cNvPr id="3" name="Shape 1"/>
          <p:cNvSpPr/>
          <p:nvPr/>
        </p:nvSpPr>
        <p:spPr>
          <a:xfrm>
            <a:off x="548640" y="1508760"/>
            <a:ext cx="3566160" cy="1554480"/>
          </a:xfrm>
          <a:prstGeom prst="roundRect">
            <a:avLst>
              <a:gd name="adj" fmla="val 4706"/>
            </a:avLst>
          </a:prstGeom>
          <a:solidFill>
            <a:srgbClr val="EEF3F7"/>
          </a:solidFill>
          <a:ln w="12700">
            <a:solidFill>
              <a:srgbClr val="EEF3F7"/>
            </a:solidFill>
            <a:prstDash val="solid"/>
          </a:ln>
        </p:spPr>
      </p:sp>
      <p:sp>
        <p:nvSpPr>
          <p:cNvPr id="4" name="Text 2"/>
          <p:cNvSpPr txBox="1"/>
          <p:nvPr/>
        </p:nvSpPr>
        <p:spPr>
          <a:xfrm>
            <a:off x="777240" y="1618488"/>
            <a:ext cx="3108960" cy="777240"/>
          </a:xfrm>
          <a:prstGeom prst="rect">
            <a:avLst/>
          </a:prstGeom>
          <a:noFill/>
          <a:ln/>
        </p:spPr>
        <p:txBody>
          <a:bodyPr wrap="square" lIns="0" tIns="0" rIns="0" bIns="0" rtlCol="0" anchor="ctr"/>
          <a:lstStyle/>
          <a:p>
            <a:pPr indent="0" marL="0">
              <a:buNone/>
            </a:pPr>
            <a:r>
              <a:rPr lang="en-US" sz="4000" b="1" dirty="0">
                <a:solidFill>
                  <a:srgbClr val="138D7E"/>
                </a:solidFill>
                <a:latin typeface="Cambria" pitchFamily="34" charset="0"/>
                <a:ea typeface="Cambria" pitchFamily="34" charset="-122"/>
                <a:cs typeface="Cambria" pitchFamily="34" charset="-120"/>
              </a:rPr>
              <a:t>21</a:t>
            </a:r>
            <a:endParaRPr lang="en-US" sz="4000" dirty="0"/>
          </a:p>
        </p:txBody>
      </p:sp>
      <p:sp>
        <p:nvSpPr>
          <p:cNvPr id="5" name="Text 3"/>
          <p:cNvSpPr txBox="1"/>
          <p:nvPr/>
        </p:nvSpPr>
        <p:spPr>
          <a:xfrm>
            <a:off x="777240" y="2363724"/>
            <a:ext cx="3108960" cy="621792"/>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test frauds missed by the GMM</a:t>
            </a:r>
            <a:endParaRPr lang="en-US" sz="1300" dirty="0"/>
          </a:p>
        </p:txBody>
      </p:sp>
      <p:sp>
        <p:nvSpPr>
          <p:cNvPr id="6" name="Shape 4"/>
          <p:cNvSpPr/>
          <p:nvPr/>
        </p:nvSpPr>
        <p:spPr>
          <a:xfrm>
            <a:off x="4315968" y="1508760"/>
            <a:ext cx="3566160" cy="1554480"/>
          </a:xfrm>
          <a:prstGeom prst="roundRect">
            <a:avLst>
              <a:gd name="adj" fmla="val 4706"/>
            </a:avLst>
          </a:prstGeom>
          <a:solidFill>
            <a:srgbClr val="EEF3F7"/>
          </a:solidFill>
          <a:ln w="12700">
            <a:solidFill>
              <a:srgbClr val="EEF3F7"/>
            </a:solidFill>
            <a:prstDash val="solid"/>
          </a:ln>
        </p:spPr>
      </p:sp>
      <p:sp>
        <p:nvSpPr>
          <p:cNvPr id="7" name="Text 5"/>
          <p:cNvSpPr txBox="1"/>
          <p:nvPr/>
        </p:nvSpPr>
        <p:spPr>
          <a:xfrm>
            <a:off x="4544568" y="1618488"/>
            <a:ext cx="3108960" cy="777240"/>
          </a:xfrm>
          <a:prstGeom prst="rect">
            <a:avLst/>
          </a:prstGeom>
          <a:noFill/>
          <a:ln/>
        </p:spPr>
        <p:txBody>
          <a:bodyPr wrap="square" lIns="0" tIns="0" rIns="0" bIns="0" rtlCol="0" anchor="ctr"/>
          <a:lstStyle/>
          <a:p>
            <a:pPr indent="0" marL="0">
              <a:buNone/>
            </a:pPr>
            <a:r>
              <a:rPr lang="en-US" sz="4000" b="1" dirty="0">
                <a:solidFill>
                  <a:srgbClr val="138D7E"/>
                </a:solidFill>
                <a:latin typeface="Cambria" pitchFamily="34" charset="0"/>
                <a:ea typeface="Cambria" pitchFamily="34" charset="-122"/>
                <a:cs typeface="Cambria" pitchFamily="34" charset="-120"/>
              </a:rPr>
              <a:t>21</a:t>
            </a:r>
            <a:endParaRPr lang="en-US" sz="4000" dirty="0"/>
          </a:p>
        </p:txBody>
      </p:sp>
      <p:sp>
        <p:nvSpPr>
          <p:cNvPr id="8" name="Text 6"/>
          <p:cNvSpPr txBox="1"/>
          <p:nvPr/>
        </p:nvSpPr>
        <p:spPr>
          <a:xfrm>
            <a:off x="4544568" y="2363724"/>
            <a:ext cx="3108960" cy="621792"/>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test frauds missed by the selected AE</a:t>
            </a:r>
            <a:endParaRPr lang="en-US" sz="1300" dirty="0"/>
          </a:p>
        </p:txBody>
      </p:sp>
      <p:sp>
        <p:nvSpPr>
          <p:cNvPr id="9" name="Shape 7"/>
          <p:cNvSpPr/>
          <p:nvPr/>
        </p:nvSpPr>
        <p:spPr>
          <a:xfrm>
            <a:off x="8074152" y="1508760"/>
            <a:ext cx="3566160" cy="1554480"/>
          </a:xfrm>
          <a:prstGeom prst="roundRect">
            <a:avLst>
              <a:gd name="adj" fmla="val 4706"/>
            </a:avLst>
          </a:prstGeom>
          <a:solidFill>
            <a:srgbClr val="DDF0EE"/>
          </a:solidFill>
          <a:ln w="12700">
            <a:solidFill>
              <a:srgbClr val="DDF0EE"/>
            </a:solidFill>
            <a:prstDash val="solid"/>
          </a:ln>
        </p:spPr>
      </p:sp>
      <p:sp>
        <p:nvSpPr>
          <p:cNvPr id="10" name="Text 8"/>
          <p:cNvSpPr txBox="1"/>
          <p:nvPr/>
        </p:nvSpPr>
        <p:spPr>
          <a:xfrm>
            <a:off x="8302752" y="1618488"/>
            <a:ext cx="3108960" cy="777240"/>
          </a:xfrm>
          <a:prstGeom prst="rect">
            <a:avLst/>
          </a:prstGeom>
          <a:noFill/>
          <a:ln/>
        </p:spPr>
        <p:txBody>
          <a:bodyPr wrap="square" lIns="0" tIns="0" rIns="0" bIns="0" rtlCol="0" anchor="ctr"/>
          <a:lstStyle/>
          <a:p>
            <a:pPr indent="0" marL="0">
              <a:buNone/>
            </a:pPr>
            <a:r>
              <a:rPr lang="en-US" sz="4000" b="1" dirty="0">
                <a:solidFill>
                  <a:srgbClr val="138D7E"/>
                </a:solidFill>
                <a:latin typeface="Cambria" pitchFamily="34" charset="0"/>
                <a:ea typeface="Cambria" pitchFamily="34" charset="-122"/>
                <a:cs typeface="Cambria" pitchFamily="34" charset="-120"/>
              </a:rPr>
              <a:t>20</a:t>
            </a:r>
            <a:endParaRPr lang="en-US" sz="4000" dirty="0"/>
          </a:p>
        </p:txBody>
      </p:sp>
      <p:sp>
        <p:nvSpPr>
          <p:cNvPr id="11" name="Text 9"/>
          <p:cNvSpPr txBox="1"/>
          <p:nvPr/>
        </p:nvSpPr>
        <p:spPr>
          <a:xfrm>
            <a:off x="8302752" y="2363724"/>
            <a:ext cx="3108960" cy="621792"/>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missed by both: the same transactions</a:t>
            </a:r>
            <a:endParaRPr lang="en-US" sz="1300" dirty="0"/>
          </a:p>
        </p:txBody>
      </p:sp>
      <p:sp>
        <p:nvSpPr>
          <p:cNvPr id="12" name="Text 10"/>
          <p:cNvSpPr txBox="1"/>
          <p:nvPr/>
        </p:nvSpPr>
        <p:spPr>
          <a:xfrm>
            <a:off x="548640" y="3383280"/>
            <a:ext cx="6583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Baseline and selected autoencoders miss exactly the same 21 frauds</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Each of the GMM and AE catches exactly one fraud the other misses</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About 20% of test frauds look completely normal to both detectors</a:t>
            </a:r>
            <a:endParaRPr lang="en-US" sz="1500" dirty="0"/>
          </a:p>
          <a:p>
            <a:pPr marL="342900" indent="-342900">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Checked fraud by fraud, not only by counts</a:t>
            </a:r>
            <a:endParaRPr lang="en-US" sz="1500" dirty="0"/>
          </a:p>
        </p:txBody>
      </p:sp>
      <p:sp>
        <p:nvSpPr>
          <p:cNvPr id="13" name="Shape 11"/>
          <p:cNvSpPr/>
          <p:nvPr/>
        </p:nvSpPr>
        <p:spPr>
          <a:xfrm>
            <a:off x="7498080" y="3383280"/>
            <a:ext cx="4142232" cy="2286000"/>
          </a:xfrm>
          <a:prstGeom prst="roundRect">
            <a:avLst>
              <a:gd name="adj" fmla="val 3200"/>
            </a:avLst>
          </a:prstGeom>
          <a:solidFill>
            <a:srgbClr val="FBE9D0"/>
          </a:solidFill>
          <a:ln w="12700">
            <a:solidFill>
              <a:srgbClr val="FBE9D0"/>
            </a:solidFill>
            <a:prstDash val="solid"/>
          </a:ln>
        </p:spPr>
      </p:sp>
      <p:sp>
        <p:nvSpPr>
          <p:cNvPr id="14" name="Text 12"/>
          <p:cNvSpPr txBox="1"/>
          <p:nvPr/>
        </p:nvSpPr>
        <p:spPr>
          <a:xfrm>
            <a:off x="7726680" y="3493008"/>
            <a:ext cx="3685032"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Why it matters</a:t>
            </a:r>
            <a:endParaRPr lang="en-US" sz="1800" dirty="0"/>
          </a:p>
        </p:txBody>
      </p:sp>
      <p:sp>
        <p:nvSpPr>
          <p:cNvPr id="15" name="Text 13"/>
          <p:cNvSpPr txBox="1"/>
          <p:nvPr/>
        </p:nvSpPr>
        <p:spPr>
          <a:xfrm>
            <a:off x="7726680" y="3886200"/>
            <a:ext cx="3685032" cy="16916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Two very different detectors miss almost the same frauds: those transactions look completely normal in these features. Observed on one split with 95 frauds.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Key Findings</a:t>
            </a:r>
            <a:endParaRPr lang="en-US" sz="3200" dirty="0"/>
          </a:p>
        </p:txBody>
      </p:sp>
      <p:sp>
        <p:nvSpPr>
          <p:cNvPr id="4" name="Shape 1"/>
          <p:cNvSpPr/>
          <p:nvPr/>
        </p:nvSpPr>
        <p:spPr>
          <a:xfrm>
            <a:off x="548640" y="1508760"/>
            <a:ext cx="5422392" cy="2011680"/>
          </a:xfrm>
          <a:prstGeom prst="roundRect">
            <a:avLst>
              <a:gd name="adj" fmla="val 3636"/>
            </a:avLst>
          </a:prstGeom>
          <a:solidFill>
            <a:srgbClr val="DDF0EE"/>
          </a:solidFill>
          <a:ln w="12700">
            <a:solidFill>
              <a:srgbClr val="DDF0EE"/>
            </a:solidFill>
            <a:prstDash val="solid"/>
          </a:ln>
        </p:spPr>
      </p:sp>
      <p:sp>
        <p:nvSpPr>
          <p:cNvPr id="5" name="Text 2"/>
          <p:cNvSpPr txBox="1"/>
          <p:nvPr/>
        </p:nvSpPr>
        <p:spPr>
          <a:xfrm>
            <a:off x="822960" y="1645920"/>
            <a:ext cx="484632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Both beat chance</a:t>
            </a:r>
            <a:endParaRPr lang="en-US" sz="1800" dirty="0"/>
          </a:p>
        </p:txBody>
      </p:sp>
      <p:sp>
        <p:nvSpPr>
          <p:cNvPr id="6" name="Text 3"/>
          <p:cNvSpPr txBox="1"/>
          <p:nvPr/>
        </p:nvSpPr>
        <p:spPr>
          <a:xfrm>
            <a:off x="822960" y="2057400"/>
            <a:ext cx="4846320" cy="640080"/>
          </a:xfrm>
          <a:prstGeom prst="rect">
            <a:avLst/>
          </a:prstGeom>
          <a:noFill/>
          <a:ln/>
        </p:spPr>
        <p:txBody>
          <a:bodyPr wrap="square" lIns="0" tIns="0" rIns="0" bIns="0" rtlCol="0" anchor="ctr"/>
          <a:lstStyle/>
          <a:p>
            <a:pPr indent="0" marL="0">
              <a:buNone/>
            </a:pPr>
            <a:r>
              <a:rPr lang="en-US" sz="3200" b="1" dirty="0">
                <a:solidFill>
                  <a:srgbClr val="138D7E"/>
                </a:solidFill>
                <a:latin typeface="Cambria" pitchFamily="34" charset="0"/>
                <a:ea typeface="Cambria" pitchFamily="34" charset="-122"/>
                <a:cs typeface="Cambria" pitchFamily="34" charset="-120"/>
              </a:rPr>
              <a:t>0.47 / 0.36</a:t>
            </a:r>
            <a:endParaRPr lang="en-US" sz="3200" dirty="0"/>
          </a:p>
        </p:txBody>
      </p:sp>
      <p:sp>
        <p:nvSpPr>
          <p:cNvPr id="7" name="Text 4"/>
          <p:cNvSpPr txBox="1"/>
          <p:nvPr/>
        </p:nvSpPr>
        <p:spPr>
          <a:xfrm>
            <a:off x="822960" y="2743200"/>
            <a:ext cx="4846320" cy="6858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test AP for GMM / AE, against 0.0017 for random ranking.</a:t>
            </a:r>
            <a:endParaRPr lang="en-US" sz="1400" dirty="0"/>
          </a:p>
        </p:txBody>
      </p:sp>
      <p:sp>
        <p:nvSpPr>
          <p:cNvPr id="8" name="Shape 5"/>
          <p:cNvSpPr/>
          <p:nvPr/>
        </p:nvSpPr>
        <p:spPr>
          <a:xfrm>
            <a:off x="6217920" y="1508760"/>
            <a:ext cx="5422392" cy="2011680"/>
          </a:xfrm>
          <a:prstGeom prst="roundRect">
            <a:avLst>
              <a:gd name="adj" fmla="val 3636"/>
            </a:avLst>
          </a:prstGeom>
          <a:solidFill>
            <a:srgbClr val="EEF3F7"/>
          </a:solidFill>
          <a:ln w="12700">
            <a:solidFill>
              <a:srgbClr val="EEF3F7"/>
            </a:solidFill>
            <a:prstDash val="solid"/>
          </a:ln>
        </p:spPr>
      </p:sp>
      <p:sp>
        <p:nvSpPr>
          <p:cNvPr id="9" name="Text 6"/>
          <p:cNvSpPr txBox="1"/>
          <p:nvPr/>
        </p:nvSpPr>
        <p:spPr>
          <a:xfrm>
            <a:off x="6492240" y="1645920"/>
            <a:ext cx="484632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GMM ranks best</a:t>
            </a:r>
            <a:endParaRPr lang="en-US" sz="1800" dirty="0"/>
          </a:p>
        </p:txBody>
      </p:sp>
      <p:sp>
        <p:nvSpPr>
          <p:cNvPr id="10" name="Text 7"/>
          <p:cNvSpPr txBox="1"/>
          <p:nvPr/>
        </p:nvSpPr>
        <p:spPr>
          <a:xfrm>
            <a:off x="6492240" y="2057400"/>
            <a:ext cx="4846320" cy="640080"/>
          </a:xfrm>
          <a:prstGeom prst="rect">
            <a:avLst/>
          </a:prstGeom>
          <a:noFill/>
          <a:ln/>
        </p:spPr>
        <p:txBody>
          <a:bodyPr wrap="square" lIns="0" tIns="0" rIns="0" bIns="0" rtlCol="0" anchor="ctr"/>
          <a:lstStyle/>
          <a:p>
            <a:pPr indent="0" marL="0">
              <a:buNone/>
            </a:pPr>
            <a:r>
              <a:rPr lang="en-US" sz="3200" b="1" dirty="0">
                <a:solidFill>
                  <a:srgbClr val="138D7E"/>
                </a:solidFill>
                <a:latin typeface="Cambria" pitchFamily="34" charset="0"/>
                <a:ea typeface="Cambria" pitchFamily="34" charset="-122"/>
                <a:cs typeface="Cambria" pitchFamily="34" charset="-120"/>
              </a:rPr>
              <a:t>49 vs 41</a:t>
            </a:r>
            <a:endParaRPr lang="en-US" sz="3200" dirty="0"/>
          </a:p>
        </p:txBody>
      </p:sp>
      <p:sp>
        <p:nvSpPr>
          <p:cNvPr id="11" name="Text 8"/>
          <p:cNvSpPr txBox="1"/>
          <p:nvPr/>
        </p:nvSpPr>
        <p:spPr>
          <a:xfrm>
            <a:off x="6492240" y="2743200"/>
            <a:ext cx="4846320" cy="6858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frauds in the top 100 alerts, GMM vs autoencoder.</a:t>
            </a:r>
            <a:endParaRPr lang="en-US" sz="1400" dirty="0"/>
          </a:p>
        </p:txBody>
      </p:sp>
      <p:sp>
        <p:nvSpPr>
          <p:cNvPr id="12" name="Shape 9"/>
          <p:cNvSpPr/>
          <p:nvPr/>
        </p:nvSpPr>
        <p:spPr>
          <a:xfrm>
            <a:off x="548640" y="3703320"/>
            <a:ext cx="5422392" cy="2011680"/>
          </a:xfrm>
          <a:prstGeom prst="roundRect">
            <a:avLst>
              <a:gd name="adj" fmla="val 3636"/>
            </a:avLst>
          </a:prstGeom>
          <a:solidFill>
            <a:srgbClr val="DDF0EE"/>
          </a:solidFill>
          <a:ln w="12700">
            <a:solidFill>
              <a:srgbClr val="DDF0EE"/>
            </a:solidFill>
            <a:prstDash val="solid"/>
          </a:ln>
        </p:spPr>
      </p:sp>
      <p:sp>
        <p:nvSpPr>
          <p:cNvPr id="13" name="Text 10"/>
          <p:cNvSpPr txBox="1"/>
          <p:nvPr/>
        </p:nvSpPr>
        <p:spPr>
          <a:xfrm>
            <a:off x="822960" y="3840480"/>
            <a:ext cx="484632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Operating point tied</a:t>
            </a:r>
            <a:endParaRPr lang="en-US" sz="1800" dirty="0"/>
          </a:p>
        </p:txBody>
      </p:sp>
      <p:sp>
        <p:nvSpPr>
          <p:cNvPr id="14" name="Text 11"/>
          <p:cNvSpPr txBox="1"/>
          <p:nvPr/>
        </p:nvSpPr>
        <p:spPr>
          <a:xfrm>
            <a:off x="822960" y="4251960"/>
            <a:ext cx="4846320" cy="640080"/>
          </a:xfrm>
          <a:prstGeom prst="rect">
            <a:avLst/>
          </a:prstGeom>
          <a:noFill/>
          <a:ln/>
        </p:spPr>
        <p:txBody>
          <a:bodyPr wrap="square" lIns="0" tIns="0" rIns="0" bIns="0" rtlCol="0" anchor="ctr"/>
          <a:lstStyle/>
          <a:p>
            <a:pPr indent="0" marL="0">
              <a:buNone/>
            </a:pPr>
            <a:r>
              <a:rPr lang="en-US" sz="3200" b="1" dirty="0">
                <a:solidFill>
                  <a:srgbClr val="138D7E"/>
                </a:solidFill>
                <a:latin typeface="Cambria" pitchFamily="34" charset="0"/>
                <a:ea typeface="Cambria" pitchFamily="34" charset="-122"/>
                <a:cs typeface="Cambria" pitchFamily="34" charset="-120"/>
              </a:rPr>
              <a:t>74 / 95</a:t>
            </a:r>
            <a:endParaRPr lang="en-US" sz="3200" dirty="0"/>
          </a:p>
        </p:txBody>
      </p:sp>
      <p:sp>
        <p:nvSpPr>
          <p:cNvPr id="15" name="Text 12"/>
          <p:cNvSpPr txBox="1"/>
          <p:nvPr/>
        </p:nvSpPr>
        <p:spPr>
          <a:xfrm>
            <a:off x="822960" y="4937760"/>
            <a:ext cx="4846320" cy="6858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frauds caught by all three models at the validation threshold.</a:t>
            </a:r>
            <a:endParaRPr lang="en-US" sz="1400" dirty="0"/>
          </a:p>
        </p:txBody>
      </p:sp>
      <p:sp>
        <p:nvSpPr>
          <p:cNvPr id="16" name="Shape 13"/>
          <p:cNvSpPr/>
          <p:nvPr/>
        </p:nvSpPr>
        <p:spPr>
          <a:xfrm>
            <a:off x="6217920" y="3703320"/>
            <a:ext cx="5422392" cy="2011680"/>
          </a:xfrm>
          <a:prstGeom prst="roundRect">
            <a:avLst>
              <a:gd name="adj" fmla="val 3636"/>
            </a:avLst>
          </a:prstGeom>
          <a:solidFill>
            <a:srgbClr val="EEF3F7"/>
          </a:solidFill>
          <a:ln w="12700">
            <a:solidFill>
              <a:srgbClr val="EEF3F7"/>
            </a:solidFill>
            <a:prstDash val="solid"/>
          </a:ln>
        </p:spPr>
      </p:sp>
      <p:sp>
        <p:nvSpPr>
          <p:cNvPr id="17" name="Text 14"/>
          <p:cNvSpPr txBox="1"/>
          <p:nvPr/>
        </p:nvSpPr>
        <p:spPr>
          <a:xfrm>
            <a:off x="6492240" y="3840480"/>
            <a:ext cx="484632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Tuning did not help</a:t>
            </a:r>
            <a:endParaRPr lang="en-US" sz="1800" dirty="0"/>
          </a:p>
        </p:txBody>
      </p:sp>
      <p:sp>
        <p:nvSpPr>
          <p:cNvPr id="18" name="Text 15"/>
          <p:cNvSpPr txBox="1"/>
          <p:nvPr/>
        </p:nvSpPr>
        <p:spPr>
          <a:xfrm>
            <a:off x="6492240" y="4251960"/>
            <a:ext cx="4846320" cy="640080"/>
          </a:xfrm>
          <a:prstGeom prst="rect">
            <a:avLst/>
          </a:prstGeom>
          <a:noFill/>
          <a:ln/>
        </p:spPr>
        <p:txBody>
          <a:bodyPr wrap="square" lIns="0" tIns="0" rIns="0" bIns="0" rtlCol="0" anchor="ctr"/>
          <a:lstStyle/>
          <a:p>
            <a:pPr indent="0" marL="0">
              <a:buNone/>
            </a:pPr>
            <a:r>
              <a:rPr lang="en-US" sz="3200" b="1" dirty="0">
                <a:solidFill>
                  <a:srgbClr val="138D7E"/>
                </a:solidFill>
                <a:latin typeface="Cambria" pitchFamily="34" charset="0"/>
                <a:ea typeface="Cambria" pitchFamily="34" charset="-122"/>
                <a:cs typeface="Cambria" pitchFamily="34" charset="-120"/>
              </a:rPr>
              <a:t>0.3575</a:t>
            </a:r>
            <a:endParaRPr lang="en-US" sz="3200" dirty="0"/>
          </a:p>
        </p:txBody>
      </p:sp>
      <p:sp>
        <p:nvSpPr>
          <p:cNvPr id="19" name="Text 16"/>
          <p:cNvSpPr txBox="1"/>
          <p:nvPr/>
        </p:nvSpPr>
        <p:spPr>
          <a:xfrm>
            <a:off x="6492240" y="4937760"/>
            <a:ext cx="4846320" cy="6858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selected AE test AP vs 0.3568 baseline: no meaningful gain.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Limitations and Honest Notes</a:t>
            </a:r>
            <a:endParaRPr lang="en-US" sz="3200" dirty="0"/>
          </a:p>
        </p:txBody>
      </p:sp>
      <p:sp>
        <p:nvSpPr>
          <p:cNvPr id="3" name="Shape 1"/>
          <p:cNvSpPr/>
          <p:nvPr/>
        </p:nvSpPr>
        <p:spPr>
          <a:xfrm>
            <a:off x="548640" y="1508760"/>
            <a:ext cx="3593592" cy="2148840"/>
          </a:xfrm>
          <a:prstGeom prst="roundRect">
            <a:avLst>
              <a:gd name="adj" fmla="val 3404"/>
            </a:avLst>
          </a:prstGeom>
          <a:solidFill>
            <a:srgbClr val="EEF3F7"/>
          </a:solidFill>
          <a:ln w="12700">
            <a:solidFill>
              <a:srgbClr val="EEF3F7"/>
            </a:solidFill>
            <a:prstDash val="solid"/>
          </a:ln>
        </p:spPr>
      </p:sp>
      <p:sp>
        <p:nvSpPr>
          <p:cNvPr id="4" name="Text 2"/>
          <p:cNvSpPr txBox="1"/>
          <p:nvPr/>
        </p:nvSpPr>
        <p:spPr>
          <a:xfrm>
            <a:off x="777240" y="1618488"/>
            <a:ext cx="54864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777240" y="2103120"/>
            <a:ext cx="315468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Small test set</a:t>
            </a:r>
            <a:endParaRPr lang="en-US" sz="1600" dirty="0"/>
          </a:p>
        </p:txBody>
      </p:sp>
      <p:sp>
        <p:nvSpPr>
          <p:cNvPr id="6" name="Text 4"/>
          <p:cNvSpPr txBox="1"/>
          <p:nvPr/>
        </p:nvSpPr>
        <p:spPr>
          <a:xfrm>
            <a:off x="777240" y="2514600"/>
            <a:ext cx="3154680" cy="10515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Only 95 test frauds: one fraud is about 1 point of recall. One seed, no confidence intervals.</a:t>
            </a:r>
            <a:endParaRPr lang="en-US" sz="1300" dirty="0"/>
          </a:p>
        </p:txBody>
      </p:sp>
      <p:sp>
        <p:nvSpPr>
          <p:cNvPr id="7" name="Shape 5"/>
          <p:cNvSpPr/>
          <p:nvPr/>
        </p:nvSpPr>
        <p:spPr>
          <a:xfrm>
            <a:off x="4297680" y="1508760"/>
            <a:ext cx="3593592" cy="2148840"/>
          </a:xfrm>
          <a:prstGeom prst="roundRect">
            <a:avLst>
              <a:gd name="adj" fmla="val 3404"/>
            </a:avLst>
          </a:prstGeom>
          <a:solidFill>
            <a:srgbClr val="EEF3F7"/>
          </a:solidFill>
          <a:ln w="12700">
            <a:solidFill>
              <a:srgbClr val="EEF3F7"/>
            </a:solidFill>
            <a:prstDash val="solid"/>
          </a:ln>
        </p:spPr>
      </p:sp>
      <p:sp>
        <p:nvSpPr>
          <p:cNvPr id="8" name="Text 6"/>
          <p:cNvSpPr txBox="1"/>
          <p:nvPr/>
        </p:nvSpPr>
        <p:spPr>
          <a:xfrm>
            <a:off x="4526280" y="1618488"/>
            <a:ext cx="54864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4526280" y="2103120"/>
            <a:ext cx="315468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Random two-day split</a:t>
            </a:r>
            <a:endParaRPr lang="en-US" sz="1600" dirty="0"/>
          </a:p>
        </p:txBody>
      </p:sp>
      <p:sp>
        <p:nvSpPr>
          <p:cNvPr id="10" name="Text 8"/>
          <p:cNvSpPr txBox="1"/>
          <p:nvPr/>
        </p:nvSpPr>
        <p:spPr>
          <a:xfrm>
            <a:off x="4526280" y="2514600"/>
            <a:ext cx="3154680" cy="10515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Not chronological, so results do not show performance on future transactions.</a:t>
            </a:r>
            <a:endParaRPr lang="en-US" sz="1300" dirty="0"/>
          </a:p>
        </p:txBody>
      </p:sp>
      <p:sp>
        <p:nvSpPr>
          <p:cNvPr id="11" name="Shape 9"/>
          <p:cNvSpPr/>
          <p:nvPr/>
        </p:nvSpPr>
        <p:spPr>
          <a:xfrm>
            <a:off x="8046720" y="1508760"/>
            <a:ext cx="3593592" cy="2148840"/>
          </a:xfrm>
          <a:prstGeom prst="roundRect">
            <a:avLst>
              <a:gd name="adj" fmla="val 3404"/>
            </a:avLst>
          </a:prstGeom>
          <a:solidFill>
            <a:srgbClr val="EEF3F7"/>
          </a:solidFill>
          <a:ln w="12700">
            <a:solidFill>
              <a:srgbClr val="EEF3F7"/>
            </a:solidFill>
            <a:prstDash val="solid"/>
          </a:ln>
        </p:spPr>
      </p:sp>
      <p:sp>
        <p:nvSpPr>
          <p:cNvPr id="12" name="Text 10"/>
          <p:cNvSpPr txBox="1"/>
          <p:nvPr/>
        </p:nvSpPr>
        <p:spPr>
          <a:xfrm>
            <a:off x="8275320" y="1618488"/>
            <a:ext cx="54864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8275320" y="2103120"/>
            <a:ext cx="315468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Anonymised features</a:t>
            </a:r>
            <a:endParaRPr lang="en-US" sz="1600" dirty="0"/>
          </a:p>
        </p:txBody>
      </p:sp>
      <p:sp>
        <p:nvSpPr>
          <p:cNvPr id="14" name="Text 12"/>
          <p:cNvSpPr txBox="1"/>
          <p:nvPr/>
        </p:nvSpPr>
        <p:spPr>
          <a:xfrm>
            <a:off x="8275320" y="2514600"/>
            <a:ext cx="3154680" cy="10515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V1–V28 are PCA components fitted by the provider on the whole dataset.</a:t>
            </a:r>
            <a:endParaRPr lang="en-US" sz="1300" dirty="0"/>
          </a:p>
        </p:txBody>
      </p:sp>
      <p:sp>
        <p:nvSpPr>
          <p:cNvPr id="15" name="Shape 13"/>
          <p:cNvSpPr/>
          <p:nvPr/>
        </p:nvSpPr>
        <p:spPr>
          <a:xfrm>
            <a:off x="548640" y="3840480"/>
            <a:ext cx="3593592" cy="2148840"/>
          </a:xfrm>
          <a:prstGeom prst="roundRect">
            <a:avLst>
              <a:gd name="adj" fmla="val 3404"/>
            </a:avLst>
          </a:prstGeom>
          <a:solidFill>
            <a:srgbClr val="EEF3F7"/>
          </a:solidFill>
          <a:ln w="12700">
            <a:solidFill>
              <a:srgbClr val="EEF3F7"/>
            </a:solidFill>
            <a:prstDash val="solid"/>
          </a:ln>
        </p:spPr>
      </p:sp>
      <p:sp>
        <p:nvSpPr>
          <p:cNvPr id="16" name="Text 14"/>
          <p:cNvSpPr txBox="1"/>
          <p:nvPr/>
        </p:nvSpPr>
        <p:spPr>
          <a:xfrm>
            <a:off x="777240" y="3950208"/>
            <a:ext cx="54864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777240" y="4434840"/>
            <a:ext cx="315468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Validation reused</a:t>
            </a:r>
            <a:endParaRPr lang="en-US" sz="1600" dirty="0"/>
          </a:p>
        </p:txBody>
      </p:sp>
      <p:sp>
        <p:nvSpPr>
          <p:cNvPr id="18" name="Text 16"/>
          <p:cNvSpPr txBox="1"/>
          <p:nvPr/>
        </p:nvSpPr>
        <p:spPr>
          <a:xfrm>
            <a:off x="777240" y="4846320"/>
            <a:ext cx="3154680" cy="10515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Used to pick the AE and set thresholds, so validation AP is slightly flattering.</a:t>
            </a:r>
            <a:endParaRPr lang="en-US" sz="1300" dirty="0"/>
          </a:p>
        </p:txBody>
      </p:sp>
      <p:sp>
        <p:nvSpPr>
          <p:cNvPr id="19" name="Shape 17"/>
          <p:cNvSpPr/>
          <p:nvPr/>
        </p:nvSpPr>
        <p:spPr>
          <a:xfrm>
            <a:off x="4297680" y="3840480"/>
            <a:ext cx="3593592" cy="2148840"/>
          </a:xfrm>
          <a:prstGeom prst="roundRect">
            <a:avLst>
              <a:gd name="adj" fmla="val 3404"/>
            </a:avLst>
          </a:prstGeom>
          <a:solidFill>
            <a:srgbClr val="EEF3F7"/>
          </a:solidFill>
          <a:ln w="12700">
            <a:solidFill>
              <a:srgbClr val="EEF3F7"/>
            </a:solidFill>
            <a:prstDash val="solid"/>
          </a:ln>
        </p:spPr>
      </p:sp>
      <p:sp>
        <p:nvSpPr>
          <p:cNvPr id="20" name="Text 18"/>
          <p:cNvSpPr txBox="1"/>
          <p:nvPr/>
        </p:nvSpPr>
        <p:spPr>
          <a:xfrm>
            <a:off x="4526280" y="3950208"/>
            <a:ext cx="54864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5</a:t>
            </a:r>
            <a:endParaRPr lang="en-US" sz="2400" dirty="0"/>
          </a:p>
        </p:txBody>
      </p:sp>
      <p:sp>
        <p:nvSpPr>
          <p:cNvPr id="21" name="Text 19"/>
          <p:cNvSpPr txBox="1"/>
          <p:nvPr/>
        </p:nvSpPr>
        <p:spPr>
          <a:xfrm>
            <a:off x="4526280" y="4434840"/>
            <a:ext cx="315468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Simple settings</a:t>
            </a:r>
            <a:endParaRPr lang="en-US" sz="1600" dirty="0"/>
          </a:p>
        </p:txBody>
      </p:sp>
      <p:sp>
        <p:nvSpPr>
          <p:cNvPr id="22" name="Text 20"/>
          <p:cNvSpPr txBox="1"/>
          <p:nvPr/>
        </p:nvSpPr>
        <p:spPr>
          <a:xfrm>
            <a:off x="4526280" y="4846320"/>
            <a:ext cx="3154680" cy="10515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Few GMM sizes, three bottlenecks; AE-b8 stopped at its 100-epoch cap.</a:t>
            </a:r>
            <a:endParaRPr lang="en-US" sz="1300" dirty="0"/>
          </a:p>
        </p:txBody>
      </p:sp>
      <p:sp>
        <p:nvSpPr>
          <p:cNvPr id="23" name="Shape 21"/>
          <p:cNvSpPr/>
          <p:nvPr/>
        </p:nvSpPr>
        <p:spPr>
          <a:xfrm>
            <a:off x="8046720" y="3840480"/>
            <a:ext cx="3593592" cy="2148840"/>
          </a:xfrm>
          <a:prstGeom prst="roundRect">
            <a:avLst>
              <a:gd name="adj" fmla="val 3404"/>
            </a:avLst>
          </a:prstGeom>
          <a:solidFill>
            <a:srgbClr val="EEF3F7"/>
          </a:solidFill>
          <a:ln w="12700">
            <a:solidFill>
              <a:srgbClr val="EEF3F7"/>
            </a:solidFill>
            <a:prstDash val="solid"/>
          </a:ln>
        </p:spPr>
      </p:sp>
      <p:sp>
        <p:nvSpPr>
          <p:cNvPr id="24" name="Text 22"/>
          <p:cNvSpPr txBox="1"/>
          <p:nvPr/>
        </p:nvSpPr>
        <p:spPr>
          <a:xfrm>
            <a:off x="8275320" y="3950208"/>
            <a:ext cx="548640" cy="457200"/>
          </a:xfrm>
          <a:prstGeom prst="rect">
            <a:avLst/>
          </a:prstGeom>
          <a:noFill/>
          <a:ln/>
        </p:spPr>
        <p:txBody>
          <a:bodyPr wrap="square" lIns="0" tIns="0" rIns="0" bIns="0" rtlCol="0" anchor="ctr"/>
          <a:lstStyle/>
          <a:p>
            <a:pPr indent="0" marL="0">
              <a:buNone/>
            </a:pPr>
            <a:r>
              <a:rPr lang="en-US" sz="2400" b="1" dirty="0">
                <a:solidFill>
                  <a:srgbClr val="138D7E"/>
                </a:solidFill>
                <a:latin typeface="Cambria" pitchFamily="34" charset="0"/>
                <a:ea typeface="Cambria" pitchFamily="34" charset="-122"/>
                <a:cs typeface="Cambria" pitchFamily="34" charset="-120"/>
              </a:rPr>
              <a:t>6</a:t>
            </a:r>
            <a:endParaRPr lang="en-US" sz="2400" dirty="0"/>
          </a:p>
        </p:txBody>
      </p:sp>
      <p:sp>
        <p:nvSpPr>
          <p:cNvPr id="25" name="Text 23"/>
          <p:cNvSpPr txBox="1"/>
          <p:nvPr/>
        </p:nvSpPr>
        <p:spPr>
          <a:xfrm>
            <a:off x="8275320" y="4434840"/>
            <a:ext cx="315468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Scores are rankings</a:t>
            </a:r>
            <a:endParaRPr lang="en-US" sz="1600" dirty="0"/>
          </a:p>
        </p:txBody>
      </p:sp>
      <p:sp>
        <p:nvSpPr>
          <p:cNvPr id="26" name="Text 24"/>
          <p:cNvSpPr txBox="1"/>
          <p:nvPr/>
        </p:nvSpPr>
        <p:spPr>
          <a:xfrm>
            <a:off x="8275320" y="4846320"/>
            <a:ext cx="3154680" cy="10515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A score of 60 or an error of 2 is not a probability of fraud.</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Team Contributions</a:t>
            </a:r>
            <a:endParaRPr lang="en-US" sz="3200" dirty="0"/>
          </a:p>
        </p:txBody>
      </p:sp>
      <p:sp>
        <p:nvSpPr>
          <p:cNvPr id="3" name="Shape 1"/>
          <p:cNvSpPr/>
          <p:nvPr/>
        </p:nvSpPr>
        <p:spPr>
          <a:xfrm>
            <a:off x="548640" y="1508760"/>
            <a:ext cx="3593592" cy="2194560"/>
          </a:xfrm>
          <a:prstGeom prst="roundRect">
            <a:avLst>
              <a:gd name="adj" fmla="val 3333"/>
            </a:avLst>
          </a:prstGeom>
          <a:solidFill>
            <a:srgbClr val="DDF0EE"/>
          </a:solidFill>
          <a:ln w="12700">
            <a:solidFill>
              <a:srgbClr val="DDF0EE"/>
            </a:solidFill>
            <a:prstDash val="solid"/>
          </a:ln>
        </p:spPr>
      </p:sp>
      <p:sp>
        <p:nvSpPr>
          <p:cNvPr id="4" name="Text 2"/>
          <p:cNvSpPr txBox="1"/>
          <p:nvPr/>
        </p:nvSpPr>
        <p:spPr>
          <a:xfrm>
            <a:off x="822960" y="1645920"/>
            <a:ext cx="3017520" cy="4114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Yash</a:t>
            </a:r>
            <a:endParaRPr lang="en-US" sz="2200" dirty="0"/>
          </a:p>
        </p:txBody>
      </p:sp>
      <p:sp>
        <p:nvSpPr>
          <p:cNvPr id="5" name="Text 3"/>
          <p:cNvSpPr txBox="1"/>
          <p:nvPr/>
        </p:nvSpPr>
        <p:spPr>
          <a:xfrm>
            <a:off x="822960" y="2103120"/>
            <a:ext cx="3017520" cy="365760"/>
          </a:xfrm>
          <a:prstGeom prst="rect">
            <a:avLst/>
          </a:prstGeom>
          <a:noFill/>
          <a:ln/>
        </p:spPr>
        <p:txBody>
          <a:bodyPr wrap="square" lIns="0" tIns="0" rIns="0" bIns="0" rtlCol="0" anchor="ctr"/>
          <a:lstStyle/>
          <a:p>
            <a:pPr indent="0" marL="0">
              <a:buNone/>
            </a:pPr>
            <a:r>
              <a:rPr lang="en-US" sz="1500" b="1" dirty="0">
                <a:solidFill>
                  <a:srgbClr val="138D7E"/>
                </a:solidFill>
                <a:latin typeface="Calibri" pitchFamily="34" charset="0"/>
                <a:ea typeface="Calibri" pitchFamily="34" charset="-122"/>
                <a:cs typeface="Calibri" pitchFamily="34" charset="-120"/>
              </a:rPr>
              <a:t>Lead contributor</a:t>
            </a:r>
            <a:endParaRPr lang="en-US" sz="1500" dirty="0"/>
          </a:p>
        </p:txBody>
      </p:sp>
      <p:sp>
        <p:nvSpPr>
          <p:cNvPr id="6" name="Text 4"/>
          <p:cNvSpPr txBox="1"/>
          <p:nvPr/>
        </p:nvSpPr>
        <p:spPr>
          <a:xfrm>
            <a:off x="822960" y="2514600"/>
            <a:ext cx="3108960" cy="109728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GMM (Section C), thresholds and leakage (Section E), model comparison</a:t>
            </a:r>
            <a:endParaRPr lang="en-US" sz="1400" dirty="0"/>
          </a:p>
        </p:txBody>
      </p:sp>
      <p:sp>
        <p:nvSpPr>
          <p:cNvPr id="7" name="Shape 5"/>
          <p:cNvSpPr/>
          <p:nvPr/>
        </p:nvSpPr>
        <p:spPr>
          <a:xfrm>
            <a:off x="4297680" y="1508760"/>
            <a:ext cx="3593592" cy="2194560"/>
          </a:xfrm>
          <a:prstGeom prst="roundRect">
            <a:avLst>
              <a:gd name="adj" fmla="val 3333"/>
            </a:avLst>
          </a:prstGeom>
          <a:solidFill>
            <a:srgbClr val="DDF0EE"/>
          </a:solidFill>
          <a:ln w="12700">
            <a:solidFill>
              <a:srgbClr val="DDF0EE"/>
            </a:solidFill>
            <a:prstDash val="solid"/>
          </a:ln>
        </p:spPr>
      </p:sp>
      <p:sp>
        <p:nvSpPr>
          <p:cNvPr id="8" name="Text 6"/>
          <p:cNvSpPr txBox="1"/>
          <p:nvPr/>
        </p:nvSpPr>
        <p:spPr>
          <a:xfrm>
            <a:off x="4572000" y="1645920"/>
            <a:ext cx="3017520" cy="4114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Ram</a:t>
            </a:r>
            <a:endParaRPr lang="en-US" sz="2200" dirty="0"/>
          </a:p>
        </p:txBody>
      </p:sp>
      <p:sp>
        <p:nvSpPr>
          <p:cNvPr id="9" name="Text 7"/>
          <p:cNvSpPr txBox="1"/>
          <p:nvPr/>
        </p:nvSpPr>
        <p:spPr>
          <a:xfrm>
            <a:off x="4572000" y="2103120"/>
            <a:ext cx="3017520" cy="365760"/>
          </a:xfrm>
          <a:prstGeom prst="rect">
            <a:avLst/>
          </a:prstGeom>
          <a:noFill/>
          <a:ln/>
        </p:spPr>
        <p:txBody>
          <a:bodyPr wrap="square" lIns="0" tIns="0" rIns="0" bIns="0" rtlCol="0" anchor="ctr"/>
          <a:lstStyle/>
          <a:p>
            <a:pPr indent="0" marL="0">
              <a:buNone/>
            </a:pPr>
            <a:r>
              <a:rPr lang="en-US" sz="1500" b="1" dirty="0">
                <a:solidFill>
                  <a:srgbClr val="138D7E"/>
                </a:solidFill>
                <a:latin typeface="Calibri" pitchFamily="34" charset="0"/>
                <a:ea typeface="Calibri" pitchFamily="34" charset="-122"/>
                <a:cs typeface="Calibri" pitchFamily="34" charset="-120"/>
              </a:rPr>
              <a:t>Lead contributor</a:t>
            </a:r>
            <a:endParaRPr lang="en-US" sz="1500" dirty="0"/>
          </a:p>
        </p:txBody>
      </p:sp>
      <p:sp>
        <p:nvSpPr>
          <p:cNvPr id="10" name="Text 8"/>
          <p:cNvSpPr txBox="1"/>
          <p:nvPr/>
        </p:nvSpPr>
        <p:spPr>
          <a:xfrm>
            <a:off x="4572000" y="2514600"/>
            <a:ext cx="3108960" cy="109728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Autoencoder and experiments (D), evaluation (F), missed-fraud analysis</a:t>
            </a:r>
            <a:endParaRPr lang="en-US" sz="1400" dirty="0"/>
          </a:p>
        </p:txBody>
      </p:sp>
      <p:sp>
        <p:nvSpPr>
          <p:cNvPr id="11" name="Shape 9"/>
          <p:cNvSpPr/>
          <p:nvPr/>
        </p:nvSpPr>
        <p:spPr>
          <a:xfrm>
            <a:off x="8046720" y="1508760"/>
            <a:ext cx="3593592" cy="2194560"/>
          </a:xfrm>
          <a:prstGeom prst="roundRect">
            <a:avLst>
              <a:gd name="adj" fmla="val 3333"/>
            </a:avLst>
          </a:prstGeom>
          <a:solidFill>
            <a:srgbClr val="EEF3F7"/>
          </a:solidFill>
          <a:ln w="12700">
            <a:solidFill>
              <a:srgbClr val="EEF3F7"/>
            </a:solidFill>
            <a:prstDash val="solid"/>
          </a:ln>
        </p:spPr>
      </p:sp>
      <p:sp>
        <p:nvSpPr>
          <p:cNvPr id="12" name="Text 10"/>
          <p:cNvSpPr txBox="1"/>
          <p:nvPr/>
        </p:nvSpPr>
        <p:spPr>
          <a:xfrm>
            <a:off x="8321040" y="1645920"/>
            <a:ext cx="3017520" cy="4114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Archit</a:t>
            </a:r>
            <a:endParaRPr lang="en-US" sz="2200" dirty="0"/>
          </a:p>
        </p:txBody>
      </p:sp>
      <p:sp>
        <p:nvSpPr>
          <p:cNvPr id="13" name="Text 11"/>
          <p:cNvSpPr txBox="1"/>
          <p:nvPr/>
        </p:nvSpPr>
        <p:spPr>
          <a:xfrm>
            <a:off x="8321040" y="2103120"/>
            <a:ext cx="3017520" cy="365760"/>
          </a:xfrm>
          <a:prstGeom prst="rect">
            <a:avLst/>
          </a:prstGeom>
          <a:noFill/>
          <a:ln/>
        </p:spPr>
        <p:txBody>
          <a:bodyPr wrap="square" lIns="0" tIns="0" rIns="0" bIns="0" rtlCol="0" anchor="ctr"/>
          <a:lstStyle/>
          <a:p>
            <a:pPr indent="0" marL="0">
              <a:buNone/>
            </a:pPr>
            <a:r>
              <a:rPr lang="en-US" sz="1500" b="1" dirty="0">
                <a:solidFill>
                  <a:srgbClr val="138D7E"/>
                </a:solidFill>
                <a:latin typeface="Calibri" pitchFamily="34" charset="0"/>
                <a:ea typeface="Calibri" pitchFamily="34" charset="-122"/>
                <a:cs typeface="Calibri" pitchFamily="34" charset="-120"/>
              </a:rPr>
              <a:t>Supporting contributor</a:t>
            </a:r>
            <a:endParaRPr lang="en-US" sz="1500" dirty="0"/>
          </a:p>
        </p:txBody>
      </p:sp>
      <p:sp>
        <p:nvSpPr>
          <p:cNvPr id="14" name="Text 12"/>
          <p:cNvSpPr txBox="1"/>
          <p:nvPr/>
        </p:nvSpPr>
        <p:spPr>
          <a:xfrm>
            <a:off x="8321040" y="2514600"/>
            <a:ext cx="3108960" cy="109728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Introduction, setup and dataset exploration (Section A)</a:t>
            </a:r>
            <a:endParaRPr lang="en-US" sz="1400" dirty="0"/>
          </a:p>
        </p:txBody>
      </p:sp>
      <p:sp>
        <p:nvSpPr>
          <p:cNvPr id="15" name="Shape 13"/>
          <p:cNvSpPr/>
          <p:nvPr/>
        </p:nvSpPr>
        <p:spPr>
          <a:xfrm>
            <a:off x="548640" y="3886200"/>
            <a:ext cx="3593592" cy="2194560"/>
          </a:xfrm>
          <a:prstGeom prst="roundRect">
            <a:avLst>
              <a:gd name="adj" fmla="val 3333"/>
            </a:avLst>
          </a:prstGeom>
          <a:solidFill>
            <a:srgbClr val="EEF3F7"/>
          </a:solidFill>
          <a:ln w="12700">
            <a:solidFill>
              <a:srgbClr val="EEF3F7"/>
            </a:solidFill>
            <a:prstDash val="solid"/>
          </a:ln>
        </p:spPr>
      </p:sp>
      <p:sp>
        <p:nvSpPr>
          <p:cNvPr id="16" name="Text 14"/>
          <p:cNvSpPr txBox="1"/>
          <p:nvPr/>
        </p:nvSpPr>
        <p:spPr>
          <a:xfrm>
            <a:off x="822960" y="4023360"/>
            <a:ext cx="3017520" cy="4114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Phalak</a:t>
            </a:r>
            <a:endParaRPr lang="en-US" sz="2200" dirty="0"/>
          </a:p>
        </p:txBody>
      </p:sp>
      <p:sp>
        <p:nvSpPr>
          <p:cNvPr id="17" name="Text 15"/>
          <p:cNvSpPr txBox="1"/>
          <p:nvPr/>
        </p:nvSpPr>
        <p:spPr>
          <a:xfrm>
            <a:off x="822960" y="4480560"/>
            <a:ext cx="3017520" cy="365760"/>
          </a:xfrm>
          <a:prstGeom prst="rect">
            <a:avLst/>
          </a:prstGeom>
          <a:noFill/>
          <a:ln/>
        </p:spPr>
        <p:txBody>
          <a:bodyPr wrap="square" lIns="0" tIns="0" rIns="0" bIns="0" rtlCol="0" anchor="ctr"/>
          <a:lstStyle/>
          <a:p>
            <a:pPr indent="0" marL="0">
              <a:buNone/>
            </a:pPr>
            <a:r>
              <a:rPr lang="en-US" sz="1500" b="1" dirty="0">
                <a:solidFill>
                  <a:srgbClr val="138D7E"/>
                </a:solidFill>
                <a:latin typeface="Calibri" pitchFamily="34" charset="0"/>
                <a:ea typeface="Calibri" pitchFamily="34" charset="-122"/>
                <a:cs typeface="Calibri" pitchFamily="34" charset="-120"/>
              </a:rPr>
              <a:t>Supporting contributor</a:t>
            </a:r>
            <a:endParaRPr lang="en-US" sz="1500" dirty="0"/>
          </a:p>
        </p:txBody>
      </p:sp>
      <p:sp>
        <p:nvSpPr>
          <p:cNvPr id="18" name="Text 16"/>
          <p:cNvSpPr txBox="1"/>
          <p:nvPr/>
        </p:nvSpPr>
        <p:spPr>
          <a:xfrm>
            <a:off x="822960" y="4892040"/>
            <a:ext cx="3108960" cy="109728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Data preparation and splitting (Section B)</a:t>
            </a:r>
            <a:endParaRPr lang="en-US" sz="1400" dirty="0"/>
          </a:p>
        </p:txBody>
      </p:sp>
      <p:sp>
        <p:nvSpPr>
          <p:cNvPr id="19" name="Shape 17"/>
          <p:cNvSpPr/>
          <p:nvPr/>
        </p:nvSpPr>
        <p:spPr>
          <a:xfrm>
            <a:off x="4297680" y="3886200"/>
            <a:ext cx="3593592" cy="2194560"/>
          </a:xfrm>
          <a:prstGeom prst="roundRect">
            <a:avLst>
              <a:gd name="adj" fmla="val 3333"/>
            </a:avLst>
          </a:prstGeom>
          <a:solidFill>
            <a:srgbClr val="EEF3F7"/>
          </a:solidFill>
          <a:ln w="12700">
            <a:solidFill>
              <a:srgbClr val="EEF3F7"/>
            </a:solidFill>
            <a:prstDash val="solid"/>
          </a:ln>
        </p:spPr>
      </p:sp>
      <p:sp>
        <p:nvSpPr>
          <p:cNvPr id="20" name="Text 18"/>
          <p:cNvSpPr txBox="1"/>
          <p:nvPr/>
        </p:nvSpPr>
        <p:spPr>
          <a:xfrm>
            <a:off x="4572000" y="4023360"/>
            <a:ext cx="3017520" cy="41148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Preet</a:t>
            </a:r>
            <a:endParaRPr lang="en-US" sz="2200" dirty="0"/>
          </a:p>
        </p:txBody>
      </p:sp>
      <p:sp>
        <p:nvSpPr>
          <p:cNvPr id="21" name="Text 19"/>
          <p:cNvSpPr txBox="1"/>
          <p:nvPr/>
        </p:nvSpPr>
        <p:spPr>
          <a:xfrm>
            <a:off x="4572000" y="4480560"/>
            <a:ext cx="3017520" cy="365760"/>
          </a:xfrm>
          <a:prstGeom prst="rect">
            <a:avLst/>
          </a:prstGeom>
          <a:noFill/>
          <a:ln/>
        </p:spPr>
        <p:txBody>
          <a:bodyPr wrap="square" lIns="0" tIns="0" rIns="0" bIns="0" rtlCol="0" anchor="ctr"/>
          <a:lstStyle/>
          <a:p>
            <a:pPr indent="0" marL="0">
              <a:buNone/>
            </a:pPr>
            <a:r>
              <a:rPr lang="en-US" sz="1500" b="1" dirty="0">
                <a:solidFill>
                  <a:srgbClr val="138D7E"/>
                </a:solidFill>
                <a:latin typeface="Calibri" pitchFamily="34" charset="0"/>
                <a:ea typeface="Calibri" pitchFamily="34" charset="-122"/>
                <a:cs typeface="Calibri" pitchFamily="34" charset="-120"/>
              </a:rPr>
              <a:t>Supporting contributor</a:t>
            </a:r>
            <a:endParaRPr lang="en-US" sz="1500" dirty="0"/>
          </a:p>
        </p:txBody>
      </p:sp>
      <p:sp>
        <p:nvSpPr>
          <p:cNvPr id="22" name="Text 20"/>
          <p:cNvSpPr txBox="1"/>
          <p:nvPr/>
        </p:nvSpPr>
        <p:spPr>
          <a:xfrm>
            <a:off x="4572000" y="4892040"/>
            <a:ext cx="3108960" cy="109728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Visualisations, conclusion and README (Sections G–H)</a:t>
            </a:r>
            <a:endParaRPr lang="en-US" sz="1400" dirty="0"/>
          </a:p>
        </p:txBody>
      </p:sp>
      <p:sp>
        <p:nvSpPr>
          <p:cNvPr id="23" name="Shape 21"/>
          <p:cNvSpPr/>
          <p:nvPr/>
        </p:nvSpPr>
        <p:spPr>
          <a:xfrm>
            <a:off x="8046720" y="3886200"/>
            <a:ext cx="3593592" cy="2194560"/>
          </a:xfrm>
          <a:prstGeom prst="roundRect">
            <a:avLst>
              <a:gd name="adj" fmla="val 3333"/>
            </a:avLst>
          </a:prstGeom>
          <a:solidFill>
            <a:srgbClr val="0B2545"/>
          </a:solidFill>
          <a:ln w="12700">
            <a:solidFill>
              <a:srgbClr val="0B2545"/>
            </a:solidFill>
            <a:prstDash val="solid"/>
          </a:ln>
        </p:spPr>
      </p:sp>
      <p:sp>
        <p:nvSpPr>
          <p:cNvPr id="24" name="Text 22"/>
          <p:cNvSpPr txBox="1"/>
          <p:nvPr/>
        </p:nvSpPr>
        <p:spPr>
          <a:xfrm>
            <a:off x="8321040" y="4069080"/>
            <a:ext cx="3063240" cy="1828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Each member owns complete sections of the notebook and can explain them independently.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Conclusion and Future Work</a:t>
            </a:r>
            <a:endParaRPr lang="en-US" sz="3200" dirty="0"/>
          </a:p>
        </p:txBody>
      </p:sp>
      <p:sp>
        <p:nvSpPr>
          <p:cNvPr id="4" name="Shape 1"/>
          <p:cNvSpPr/>
          <p:nvPr/>
        </p:nvSpPr>
        <p:spPr>
          <a:xfrm>
            <a:off x="548640" y="1508760"/>
            <a:ext cx="5440680" cy="2377440"/>
          </a:xfrm>
          <a:prstGeom prst="roundRect">
            <a:avLst>
              <a:gd name="adj" fmla="val 3077"/>
            </a:avLst>
          </a:prstGeom>
          <a:solidFill>
            <a:srgbClr val="DDF0EE"/>
          </a:solidFill>
          <a:ln w="12700">
            <a:solidFill>
              <a:srgbClr val="DDF0EE"/>
            </a:solidFill>
            <a:prstDash val="solid"/>
          </a:ln>
        </p:spPr>
      </p:sp>
      <p:sp>
        <p:nvSpPr>
          <p:cNvPr id="5" name="Text 2"/>
          <p:cNvSpPr txBox="1"/>
          <p:nvPr/>
        </p:nvSpPr>
        <p:spPr>
          <a:xfrm>
            <a:off x="777240" y="1618488"/>
            <a:ext cx="498348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What we showed</a:t>
            </a:r>
            <a:endParaRPr lang="en-US" sz="1800" dirty="0"/>
          </a:p>
        </p:txBody>
      </p:sp>
      <p:sp>
        <p:nvSpPr>
          <p:cNvPr id="6" name="Text 3"/>
          <p:cNvSpPr txBox="1"/>
          <p:nvPr/>
        </p:nvSpPr>
        <p:spPr>
          <a:xfrm>
            <a:off x="777240" y="2011680"/>
            <a:ext cx="4983480" cy="1783080"/>
          </a:xfrm>
          <a:prstGeom prst="rect">
            <a:avLst/>
          </a:prstGeom>
          <a:noFill/>
          <a:ln/>
        </p:spPr>
        <p:txBody>
          <a:bodyPr wrap="square" lIns="0" tIns="0" rIns="0" bIns="0" rtlCol="0" anchor="t"/>
          <a:lstStyle/>
          <a:p>
            <a:pPr indent="0" marL="0">
              <a:buNone/>
            </a:pPr>
            <a:endParaRPr lang="en-US" sz="1400" dirty="0"/>
          </a:p>
        </p:txBody>
      </p:sp>
      <p:sp>
        <p:nvSpPr>
          <p:cNvPr id="7" name="Text 4"/>
          <p:cNvSpPr txBox="1"/>
          <p:nvPr/>
        </p:nvSpPr>
        <p:spPr>
          <a:xfrm>
            <a:off x="777240" y="201168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Two detectors trained only on legitimate data rank fraud far above chance</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The simpler GMM was at least as good as the autoencoder</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At a 1% budget both catch 74 of 95 test frauds</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Not shown: results on future data or other seeds</a:t>
            </a:r>
            <a:endParaRPr lang="en-US" sz="1400" dirty="0"/>
          </a:p>
        </p:txBody>
      </p:sp>
      <p:sp>
        <p:nvSpPr>
          <p:cNvPr id="8" name="Shape 5"/>
          <p:cNvSpPr/>
          <p:nvPr/>
        </p:nvSpPr>
        <p:spPr>
          <a:xfrm>
            <a:off x="6199632" y="1508760"/>
            <a:ext cx="5440680" cy="2377440"/>
          </a:xfrm>
          <a:prstGeom prst="roundRect">
            <a:avLst>
              <a:gd name="adj" fmla="val 3077"/>
            </a:avLst>
          </a:prstGeom>
          <a:solidFill>
            <a:srgbClr val="FBE9D0"/>
          </a:solidFill>
          <a:ln w="12700">
            <a:solidFill>
              <a:srgbClr val="FBE9D0"/>
            </a:solidFill>
            <a:prstDash val="solid"/>
          </a:ln>
        </p:spPr>
      </p:sp>
      <p:sp>
        <p:nvSpPr>
          <p:cNvPr id="9" name="Text 6"/>
          <p:cNvSpPr txBox="1"/>
          <p:nvPr/>
        </p:nvSpPr>
        <p:spPr>
          <a:xfrm>
            <a:off x="6428232" y="1618488"/>
            <a:ext cx="4983480"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Future work (not built)</a:t>
            </a:r>
            <a:endParaRPr lang="en-US" sz="1800" dirty="0"/>
          </a:p>
        </p:txBody>
      </p:sp>
      <p:sp>
        <p:nvSpPr>
          <p:cNvPr id="10" name="Text 7"/>
          <p:cNvSpPr txBox="1"/>
          <p:nvPr/>
        </p:nvSpPr>
        <p:spPr>
          <a:xfrm>
            <a:off x="6428232" y="2011680"/>
            <a:ext cx="4983480" cy="1783080"/>
          </a:xfrm>
          <a:prstGeom prst="rect">
            <a:avLst/>
          </a:prstGeom>
          <a:noFill/>
          <a:ln/>
        </p:spPr>
        <p:txBody>
          <a:bodyPr wrap="square" lIns="0" tIns="0" rIns="0" bIns="0" rtlCol="0" anchor="t"/>
          <a:lstStyle/>
          <a:p>
            <a:pPr indent="0" marL="0">
              <a:buNone/>
            </a:pPr>
            <a:endParaRPr lang="en-US" sz="1400" dirty="0"/>
          </a:p>
        </p:txBody>
      </p:sp>
      <p:sp>
        <p:nvSpPr>
          <p:cNvPr id="11" name="Text 8"/>
          <p:cNvSpPr txBox="1"/>
          <p:nvPr/>
        </p:nvSpPr>
        <p:spPr>
          <a:xfrm>
            <a:off x="6428232" y="201168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Repeated splits or bootstrapping for confidence intervals</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Chronological split with an hour-of-day feature</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VAE, Isolation Forest, One-Class SVM baselines</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Combining the two scores; using fraud labels</a:t>
            </a:r>
            <a:endParaRPr lang="en-US" sz="1400" dirty="0"/>
          </a:p>
        </p:txBody>
      </p:sp>
      <p:sp>
        <p:nvSpPr>
          <p:cNvPr id="12" name="Shape 9"/>
          <p:cNvSpPr/>
          <p:nvPr/>
        </p:nvSpPr>
        <p:spPr>
          <a:xfrm>
            <a:off x="548640" y="4114800"/>
            <a:ext cx="11091672" cy="1188720"/>
          </a:xfrm>
          <a:prstGeom prst="roundRect">
            <a:avLst>
              <a:gd name="adj" fmla="val 6154"/>
            </a:avLst>
          </a:prstGeom>
          <a:solidFill>
            <a:srgbClr val="DDF0EE"/>
          </a:solidFill>
          <a:ln w="12700">
            <a:solidFill>
              <a:srgbClr val="DDF0EE"/>
            </a:solidFill>
            <a:prstDash val="solid"/>
          </a:ln>
        </p:spPr>
      </p:sp>
      <p:sp>
        <p:nvSpPr>
          <p:cNvPr id="13" name="Text 10"/>
          <p:cNvSpPr txBox="1"/>
          <p:nvPr/>
        </p:nvSpPr>
        <p:spPr>
          <a:xfrm>
            <a:off x="777240" y="4224528"/>
            <a:ext cx="10634472" cy="365760"/>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How to run</a:t>
            </a:r>
            <a:endParaRPr lang="en-US" sz="1800" dirty="0"/>
          </a:p>
        </p:txBody>
      </p:sp>
      <p:sp>
        <p:nvSpPr>
          <p:cNvPr id="14" name="Text 11"/>
          <p:cNvSpPr txBox="1"/>
          <p:nvPr/>
        </p:nvSpPr>
        <p:spPr>
          <a:xfrm>
            <a:off x="777240" y="4617720"/>
            <a:ext cx="10634472" cy="5943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python3 -m venv .venv · source .venv/bin/activate · pip install -r requirements.txt · place creditcard.csv next to the notebook · Kernel → Restart &amp; Run All (about 1–2 minutes, CPU only).</a:t>
            </a:r>
            <a:endParaRPr lang="en-US" sz="1400" dirty="0"/>
          </a:p>
        </p:txBody>
      </p:sp>
      <p:sp>
        <p:nvSpPr>
          <p:cNvPr id="15" name="Text 12"/>
          <p:cNvSpPr txBox="1"/>
          <p:nvPr/>
        </p:nvSpPr>
        <p:spPr>
          <a:xfrm>
            <a:off x="548640" y="5486400"/>
            <a:ext cx="7315200" cy="548640"/>
          </a:xfrm>
          <a:prstGeom prst="rect">
            <a:avLst/>
          </a:prstGeom>
          <a:noFill/>
          <a:ln/>
        </p:spPr>
        <p:txBody>
          <a:bodyPr wrap="square" lIns="0" tIns="0" rIns="0" bIns="0"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Thank you. Questions?</a:t>
            </a:r>
            <a:endParaRPr lang="en-US" sz="2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 Fraud Triage</dc:title>
  <dc:subject>PptxGenJS Presentation</dc:subject>
  <dc:creator>Yash, Ram, Archit, Phalak, Preet</dc:creator>
  <cp:lastModifiedBy>Yash, Ram, Archit, Phalak, Preet</cp:lastModifiedBy>
  <cp:revision>1</cp:revision>
  <dcterms:created xsi:type="dcterms:W3CDTF">2026-10-28T04:51:05Z</dcterms:created>
  <dcterms:modified xsi:type="dcterms:W3CDTF">2026-10-28T04:51:05Z</dcterms:modified>
</cp:coreProperties>
</file>